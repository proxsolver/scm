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7"/>
    <p:sldId id="287" r:id="rId38"/>
  </p:sldIdLst>
  <p:notesMasterIdLst>
    <p:notesMasterId r:id="rId3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6.png"/><Relationship Id="rId7" Type="http://schemas.openxmlformats.org/officeDocument/2006/relationships/image" Target="../media/image-8-6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image" Target="../media/image-12-3.png"/><Relationship Id="rId6" Type="http://schemas.openxmlformats.org/officeDocument/2006/relationships/image" Target="../media/image-12-6.png"/><Relationship Id="rId7" Type="http://schemas.openxmlformats.org/officeDocument/2006/relationships/image" Target="../media/image-12-6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3.png"/><Relationship Id="rId5" Type="http://schemas.openxmlformats.org/officeDocument/2006/relationships/image" Target="../media/image-26-3.png"/><Relationship Id="rId6" Type="http://schemas.openxmlformats.org/officeDocument/2006/relationships/image" Target="../media/image-26-6.png"/><Relationship Id="rId7" Type="http://schemas.openxmlformats.org/officeDocument/2006/relationships/image" Target="../media/image-26-6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1.png"/><Relationship Id="rId3" Type="http://schemas.openxmlformats.org/officeDocument/2006/relationships/image" Target="../media/image-2-2.png"/><Relationship Id="rId4" Type="http://schemas.openxmlformats.org/officeDocument/2006/relationships/image" Target="../media/image-8-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239305" cy="102870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5c11ba07953776263a1e016e36c8057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7239305" y="0"/>
            <a:ext cx="19202" cy="10287000"/>
          </a:xfrm>
          <a:prstGeom prst="rect">
            <a:avLst/>
          </a:prstGeom>
        </p:spPr>
      </p:pic>
      <p:pic>
        <p:nvPicPr>
          <p:cNvPr id="6" name="Image 1" descr="gen-dedup-069389681ef8bef41f44118a34b817a7.png">    </p:cNvPr>
          <p:cNvPicPr>
            <a:picLocks noChangeAspect="1"/>
          </p:cNvPicPr>
          <p:nvPr/>
        </p:nvPicPr>
        <p:blipFill>
          <a:blip r:embed="rId2"/>
          <a:srcRect l="0" r="0" t="-201" b="-201"/>
          <a:stretch/>
        </p:blipFill>
        <p:spPr>
          <a:xfrm>
            <a:off x="0" y="0"/>
            <a:ext cx="75895" cy="10287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8505" y="914400"/>
            <a:ext cx="5715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spc="-25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Schneider Electric</a:t>
            </a:r>
            <a:endParaRPr lang="en-US" sz="2500" dirty="0"/>
          </a:p>
        </p:txBody>
      </p:sp>
      <p:sp>
        <p:nvSpPr>
          <p:cNvPr id="8" name="Text 4"/>
          <p:cNvSpPr txBox="1"/>
          <p:nvPr/>
        </p:nvSpPr>
        <p:spPr>
          <a:xfrm>
            <a:off x="838505" y="1371600"/>
            <a:ext cx="5715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3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World's most advanced supply chain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38505" y="8762695"/>
            <a:ext cx="5715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TIM509 · Group Report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838505" y="9038844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2" kern="0" dirty="0">
                <a:solidFill>
                  <a:srgbClr val="C8E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UNIST MOT · Operations Management · Spring 2026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38505" y="4572000"/>
            <a:ext cx="5715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0" b="1" spc="-66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#1</a:t>
            </a:r>
            <a:endParaRPr lang="en-US" sz="16500" dirty="0"/>
          </a:p>
        </p:txBody>
      </p:sp>
      <p:sp>
        <p:nvSpPr>
          <p:cNvPr id="12" name="Text 8"/>
          <p:cNvSpPr txBox="1"/>
          <p:nvPr/>
        </p:nvSpPr>
        <p:spPr>
          <a:xfrm>
            <a:off x="838505" y="6838798"/>
            <a:ext cx="5715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Gartner Supply Chain Top 25 · 3 Years Running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096098" y="914400"/>
            <a:ext cx="5143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8096098" y="1190549"/>
            <a:ext cx="5143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Dr. Lee Chang-Hun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UNIST School of Management Engineering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3525805" y="914400"/>
            <a:ext cx="3905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15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 Report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3525805" y="1190549"/>
            <a:ext cx="3905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이강원 · 이현우 · 김진혁</a:t>
            </a:r>
            <a:pPr algn="r" indent="0" marL="0">
              <a:buNone/>
            </a:pP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 slides · 4,000 words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096098" y="2667305"/>
            <a:ext cx="9525305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b="1" spc="-189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세계에서 가장 앞선 </a:t>
            </a:r>
            <a:pPr algn="l" indent="0" marL="0">
              <a:buNone/>
            </a:pPr>
            <a:r>
              <a:rPr lang="en-US" sz="6300" b="1" spc="-189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공급망</a:t>
            </a:r>
            <a:pPr algn="l" indent="0" marL="0">
              <a:buNone/>
            </a:pPr>
            <a:r>
              <a:rPr lang="en-US" sz="6300" b="1" spc="-189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,</a:t>
            </a:r>
            <a:pPr algn="l" indent="0" marL="0">
              <a:buNone/>
            </a:pPr>
            <a:endParaRPr lang="en-US" sz="6300" dirty="0"/>
          </a:p>
          <a:p>
            <a:pPr algn="l" indent="0" marL="0">
              <a:buNone/>
            </a:pPr>
            <a:r>
              <a:rPr lang="en-US" sz="6300" b="1" spc="-189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그 운영의 </a:t>
            </a:r>
            <a:pPr algn="l" indent="0" marL="0">
              <a:buNone/>
            </a:pPr>
            <a:r>
              <a:rPr lang="en-US" sz="6300" b="1" spc="-189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안쪽</a:t>
            </a:r>
            <a:endParaRPr lang="en-US" sz="6300" dirty="0"/>
          </a:p>
        </p:txBody>
      </p:sp>
      <p:sp>
        <p:nvSpPr>
          <p:cNvPr id="18" name="Text 14"/>
          <p:cNvSpPr txBox="1"/>
          <p:nvPr/>
        </p:nvSpPr>
        <p:spPr>
          <a:xfrm>
            <a:off x="8096098" y="4652467"/>
            <a:ext cx="8382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가트너 종합점수 </a:t>
            </a:r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5.81점</a:t>
            </a:r>
            <a:pPr algn="l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매출 </a:t>
            </a:r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402억 유로</a:t>
            </a:r>
            <a:pPr algn="l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영업이익률 </a:t>
            </a:r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18.7%</a:t>
            </a:r>
            <a:pPr algn="l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수주잔고 </a:t>
            </a:r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250억 유로</a:t>
            </a:r>
            <a:pPr algn="l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160개 공장과 5만 공급사를 통제하는 디지털·린·ESG의 삼위일체. </a:t>
            </a:r>
            <a:endParaRPr lang="en-US" sz="1800" dirty="0"/>
          </a:p>
        </p:txBody>
      </p:sp>
      <p:pic>
        <p:nvPicPr>
          <p:cNvPr id="19" name="Image 2" descr="gen-dedup-260b245cade8729e181168d258c56ef0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8096098" y="8762695"/>
            <a:ext cx="9334195" cy="91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096098" y="8943746"/>
            <a:ext cx="66239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운영관리 이론 × 디지털 플랫폼 × ESG의 결합으로 본 슈나이더 일렉트릭의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지속가능한 경쟁우위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6832275" y="8962949"/>
            <a:ext cx="6007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76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9525305" cy="5048402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53598" y="4381805"/>
            <a:ext cx="6191402" cy="5048402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875995"/>
            <a:ext cx="38761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가트너 Top 25 3년 연속 1위의 비밀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01 / 30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Evaluation Mechanism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886407"/>
            <a:ext cx="16002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00" b="1" spc="-109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가트너 Supply Chain Top 25의 평가 메커니즘</a:t>
            </a:r>
            <a:endParaRPr lang="en-US" sz="43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평판 50%와 ESG 20%로 무게 중심이 이동한 가트너 공식 안에서, 슈나이더는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5.81점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3년 연속 정상을 차지했다. 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447495" y="4610405"/>
            <a:ext cx="89154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Composite Score Formula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447495" y="4943246"/>
            <a:ext cx="891540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Score = </a:t>
            </a:r>
            <a:pPr algn="l" indent="0" marL="0">
              <a:buNone/>
            </a:pPr>
            <a:r>
              <a:rPr lang="en-US" sz="22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Peer Vote 25%</a:t>
            </a:r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+ </a:t>
            </a:r>
            <a:pPr algn="l" indent="0" marL="0">
              <a:buNone/>
            </a:pPr>
            <a:r>
              <a:rPr lang="en-US" sz="22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Gartner Vote 25%</a:t>
            </a:r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+ ESG 20% + Revenue Growth 10%</a:t>
            </a:r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+ ΔROPA 10% + ROPA 5% + Inv. Turn 5%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1447495" y="6515100"/>
            <a:ext cx="4371746" cy="1295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1447495" y="6515100"/>
            <a:ext cx="38405" cy="1295705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676095" y="6687007"/>
            <a:ext cx="3952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 평판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676095" y="6924751"/>
            <a:ext cx="3952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50%</a:t>
            </a:r>
            <a:endParaRPr lang="en-US" sz="3100" dirty="0"/>
          </a:p>
        </p:txBody>
      </p:sp>
      <p:sp>
        <p:nvSpPr>
          <p:cNvPr id="21" name="Text 17"/>
          <p:cNvSpPr txBox="1"/>
          <p:nvPr/>
        </p:nvSpPr>
        <p:spPr>
          <a:xfrm>
            <a:off x="1676095" y="7448702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동료 임원 + 가트너 전문가 투표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991149" y="6515100"/>
            <a:ext cx="4371746" cy="1295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5991149" y="6515100"/>
            <a:ext cx="38405" cy="1295705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219749" y="6687007"/>
            <a:ext cx="3952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ESG 단독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6219749" y="6924751"/>
            <a:ext cx="3952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20%</a:t>
            </a:r>
            <a:endParaRPr lang="en-US" sz="3100" dirty="0"/>
          </a:p>
        </p:txBody>
      </p:sp>
      <p:sp>
        <p:nvSpPr>
          <p:cNvPr id="26" name="Text 22"/>
          <p:cNvSpPr txBox="1"/>
          <p:nvPr/>
        </p:nvSpPr>
        <p:spPr>
          <a:xfrm>
            <a:off x="6219749" y="7448702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지속가능 경영 단독 가중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447495" y="7981798"/>
            <a:ext cx="4371746" cy="1295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4"/>
          <p:cNvSpPr/>
          <p:nvPr/>
        </p:nvSpPr>
        <p:spPr>
          <a:xfrm>
            <a:off x="1447495" y="7981798"/>
            <a:ext cx="38405" cy="1295705"/>
          </a:xfrm>
          <a:prstGeom prst="rect">
            <a:avLst/>
          </a:prstGeom>
          <a:solidFill>
            <a:srgbClr val="BFBFBA"/>
          </a:solidFill>
          <a:ln w="12700">
            <a:solidFill>
              <a:srgbClr val="BFBFBA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676095" y="8153705"/>
            <a:ext cx="3952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재무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676095" y="8391449"/>
            <a:ext cx="3952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30%</a:t>
            </a:r>
            <a:endParaRPr lang="en-US" sz="3100" dirty="0"/>
          </a:p>
        </p:txBody>
      </p:sp>
      <p:sp>
        <p:nvSpPr>
          <p:cNvPr id="31" name="Text 27"/>
          <p:cNvSpPr txBox="1"/>
          <p:nvPr/>
        </p:nvSpPr>
        <p:spPr>
          <a:xfrm>
            <a:off x="1676095" y="8915400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매출·ROPA·재고회전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991149" y="7981798"/>
            <a:ext cx="4371746" cy="1295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5991149" y="7981798"/>
            <a:ext cx="38405" cy="1295705"/>
          </a:xfrm>
          <a:prstGeom prst="rect">
            <a:avLst/>
          </a:prstGeom>
          <a:solidFill>
            <a:srgbClr val="BFBFBA"/>
          </a:solidFill>
          <a:ln w="12700">
            <a:solidFill>
              <a:srgbClr val="BFBFBA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219749" y="8153705"/>
            <a:ext cx="3952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모집단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6219749" y="8391449"/>
            <a:ext cx="3952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300+</a:t>
            </a:r>
            <a:endParaRPr lang="en-US" sz="3100" dirty="0"/>
          </a:p>
        </p:txBody>
      </p:sp>
      <p:sp>
        <p:nvSpPr>
          <p:cNvPr id="36" name="Text 32"/>
          <p:cNvSpPr txBox="1"/>
          <p:nvPr/>
        </p:nvSpPr>
        <p:spPr>
          <a:xfrm>
            <a:off x="6219749" y="8915400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$15B+ 글로벌 거대 기업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1259007" y="4610405"/>
            <a:ext cx="5619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Final Ranking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11259007" y="5982919"/>
            <a:ext cx="56199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1259007" y="5191049"/>
            <a:ext cx="571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#1</a:t>
            </a:r>
            <a:endParaRPr lang="en-US" sz="2800" dirty="0"/>
          </a:p>
        </p:txBody>
      </p:sp>
      <p:sp>
        <p:nvSpPr>
          <p:cNvPr id="40" name="Text 36"/>
          <p:cNvSpPr txBox="1"/>
          <p:nvPr/>
        </p:nvSpPr>
        <p:spPr>
          <a:xfrm>
            <a:off x="12001500" y="5296205"/>
            <a:ext cx="40581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12001500" y="5619902"/>
            <a:ext cx="4058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 연속 정상 (2023·24·25)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16227857" y="5210251"/>
            <a:ext cx="90342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5.81</a:t>
            </a:r>
            <a:endParaRPr lang="en-US" sz="2700" dirty="0"/>
          </a:p>
        </p:txBody>
      </p:sp>
      <p:sp>
        <p:nvSpPr>
          <p:cNvPr id="43" name="Shape 39"/>
          <p:cNvSpPr/>
          <p:nvPr/>
        </p:nvSpPr>
        <p:spPr>
          <a:xfrm>
            <a:off x="11259007" y="6676949"/>
            <a:ext cx="56199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1259007" y="6163056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9C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#2</a:t>
            </a:r>
            <a:endParaRPr lang="en-US" sz="2200" dirty="0"/>
          </a:p>
        </p:txBody>
      </p:sp>
      <p:sp>
        <p:nvSpPr>
          <p:cNvPr id="45" name="Text 41"/>
          <p:cNvSpPr txBox="1"/>
          <p:nvPr/>
        </p:nvSpPr>
        <p:spPr>
          <a:xfrm>
            <a:off x="12001500" y="6219749"/>
            <a:ext cx="420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NVIDIA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16372332" y="6200546"/>
            <a:ext cx="61264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8F4E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5.66</a:t>
            </a:r>
            <a:endParaRPr lang="en-US" sz="1900" dirty="0"/>
          </a:p>
        </p:txBody>
      </p:sp>
      <p:sp>
        <p:nvSpPr>
          <p:cNvPr id="47" name="Shape 43"/>
          <p:cNvSpPr/>
          <p:nvPr/>
        </p:nvSpPr>
        <p:spPr>
          <a:xfrm>
            <a:off x="11259007" y="7372807"/>
            <a:ext cx="56199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11259007" y="685800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9C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#3</a:t>
            </a:r>
            <a:endParaRPr lang="en-US" sz="2200" dirty="0"/>
          </a:p>
        </p:txBody>
      </p:sp>
      <p:sp>
        <p:nvSpPr>
          <p:cNvPr id="49" name="Text 45"/>
          <p:cNvSpPr txBox="1"/>
          <p:nvPr/>
        </p:nvSpPr>
        <p:spPr>
          <a:xfrm>
            <a:off x="12001500" y="6915607"/>
            <a:ext cx="420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Cisco Systems</a:t>
            </a:r>
            <a:endParaRPr lang="en-US" sz="1500" dirty="0"/>
          </a:p>
        </p:txBody>
      </p:sp>
      <p:sp>
        <p:nvSpPr>
          <p:cNvPr id="50" name="Text 46"/>
          <p:cNvSpPr txBox="1"/>
          <p:nvPr/>
        </p:nvSpPr>
        <p:spPr>
          <a:xfrm>
            <a:off x="16366846" y="6896405"/>
            <a:ext cx="61264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8F4E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5.08</a:t>
            </a:r>
            <a:endParaRPr lang="en-US" sz="1900" dirty="0"/>
          </a:p>
        </p:txBody>
      </p:sp>
      <p:sp>
        <p:nvSpPr>
          <p:cNvPr id="51" name="Shape 47"/>
          <p:cNvSpPr/>
          <p:nvPr/>
        </p:nvSpPr>
        <p:spPr>
          <a:xfrm>
            <a:off x="11259007" y="7686446"/>
            <a:ext cx="5619902" cy="1076249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52" name="Shape 48"/>
          <p:cNvSpPr/>
          <p:nvPr/>
        </p:nvSpPr>
        <p:spPr>
          <a:xfrm>
            <a:off x="11259007" y="7686446"/>
            <a:ext cx="38405" cy="1076249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1505895" y="7858354"/>
            <a:ext cx="51627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Masters (분리)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11505895" y="8134502"/>
            <a:ext cx="5162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Apple · Amazon · P&amp;G · Unilever — 10년 중 상위 5위 7회+ 진입 기업은 별도 그룹으로 분리, 본 순위에서 제외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8001000"/>
            <a:ext cx="7429500" cy="1429207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875995"/>
            <a:ext cx="38761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가트너 Top 25 3년 연속 1위의 비밀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02 / 30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Differentiator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자산 집약 제조업이 엔비디아·시스코를 제친 차별화 요인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160개 공장이라는 ROPA 불리 구조에도, 슈나이더는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'현장 기반 상향식 AI 혁신 문화'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자산 가벼운 IT 기업들을 따돌렸다. 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4381805"/>
            <a:ext cx="742950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spc="-600" kern="0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160</a:t>
            </a:r>
            <a:pPr algn="l" indent="0" marL="0">
              <a:buNone/>
            </a:pPr>
            <a:r>
              <a:rPr lang="en-US" sz="15000" b="1" spc="-60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개</a:t>
            </a:r>
            <a:endParaRPr lang="en-US" sz="150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6420002"/>
            <a:ext cx="68580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 생산 공장 수. 자산 가벼운 IT·소비재 기업에 유리하게 설계된 ROPA(Return on Physical Assets) 평가 항목 안에서, 슈나이더는 구조적으로 불리한 위치에 있다.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447495" y="8191195"/>
            <a:ext cx="6858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25 내 중·대형 제조업체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447495" y="8486546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Schneider · </a:t>
            </a:r>
            <a:pPr algn="l"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Siemens · BMW</a:t>
            </a:r>
            <a:pPr algn="l"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단 3개사. 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나머지는 모두 자산 가벼운 IT/소비재. 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8953805" y="4381805"/>
            <a:ext cx="8192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 동력 3가지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953805" y="5772607"/>
            <a:ext cx="8191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953805" y="4981651"/>
            <a:ext cx="5715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2800" dirty="0"/>
          </a:p>
        </p:txBody>
      </p:sp>
      <p:sp>
        <p:nvSpPr>
          <p:cNvPr id="21" name="Text 17"/>
          <p:cNvSpPr txBox="1"/>
          <p:nvPr/>
        </p:nvSpPr>
        <p:spPr>
          <a:xfrm>
            <a:off x="9734702" y="4981651"/>
            <a:ext cx="74112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Bottom-up AI Innovation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9734702" y="5343754"/>
            <a:ext cx="82378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일선 근무자가 직접 AI 도입 아이디어를 발의·실무 적용. 2024년 가트너 전문가 투표에서 </a:t>
            </a:r>
            <a:pPr algn="l" indent="0" marL="0">
              <a:buNone/>
            </a:pPr>
            <a:r>
              <a:rPr lang="en-US" sz="12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최다 득표</a:t>
            </a:r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획득.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953805" y="6761074"/>
            <a:ext cx="8191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953805" y="5970118"/>
            <a:ext cx="5715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2800" dirty="0"/>
          </a:p>
        </p:txBody>
      </p:sp>
      <p:sp>
        <p:nvSpPr>
          <p:cNvPr id="25" name="Text 21"/>
          <p:cNvSpPr txBox="1"/>
          <p:nvPr/>
        </p:nvSpPr>
        <p:spPr>
          <a:xfrm>
            <a:off x="9734702" y="5970118"/>
            <a:ext cx="74112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Autonomous Automation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9734702" y="6332220"/>
            <a:ext cx="74112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EcoStruxure IoT 플랫폼 기반 자율 자동화 — 등대 공장(Lighthouse) 인증 다수.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8953805" y="6958584"/>
            <a:ext cx="5715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2800" dirty="0"/>
          </a:p>
        </p:txBody>
      </p:sp>
      <p:sp>
        <p:nvSpPr>
          <p:cNvPr id="28" name="Text 24"/>
          <p:cNvSpPr txBox="1"/>
          <p:nvPr/>
        </p:nvSpPr>
        <p:spPr>
          <a:xfrm>
            <a:off x="9734702" y="6958584"/>
            <a:ext cx="74112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효율 극대화 + ESG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9734702" y="7320686"/>
            <a:ext cx="74112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지속가능성 투자를 비용이 아닌 원가절감·리스크 관리 성과로 연결 — 가트너 ESG 20% 점수 핵심 기여.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953805" y="7918704"/>
            <a:ext cx="8191195" cy="514807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1" name="Shape 27"/>
          <p:cNvSpPr/>
          <p:nvPr/>
        </p:nvSpPr>
        <p:spPr>
          <a:xfrm>
            <a:off x="8953805" y="7918704"/>
            <a:ext cx="38405" cy="514807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182405" y="8071409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결론: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자산 집약 구조 + ESG 가중 강화는 본래 핸디캡이나, 슈나이더는 이를 '문화로 풀었다'. 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714646"/>
            <a:ext cx="3829507" cy="1619402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43500" y="4714646"/>
            <a:ext cx="3829507" cy="1619402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0" y="4714646"/>
            <a:ext cx="3829507" cy="1619402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144500" y="4714646"/>
            <a:ext cx="4000500" cy="1619402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43000" y="7029907"/>
            <a:ext cx="3866998" cy="2229307"/>
          </a:xfrm>
          <a:prstGeom prst="rect">
            <a:avLst/>
          </a:prstGeom>
          <a:solidFill>
            <a:srgbClr val="FFFFFF"/>
          </a:solidFill>
          <a:ln w="25400">
            <a:solidFill>
              <a:srgbClr val="3DCD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43500" y="7029907"/>
            <a:ext cx="3847795" cy="221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0" y="7029907"/>
            <a:ext cx="3847795" cy="221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144500" y="7029907"/>
            <a:ext cx="4019702" cy="221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2"/>
            </a:solidFill>
            <a:prstDash val="solid"/>
          </a:ln>
        </p:spPr>
      </p:sp>
      <p:pic>
        <p:nvPicPr>
          <p:cNvPr id="14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875995"/>
            <a:ext cx="273222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기업 소개 및 거시 환경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03 / 30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Business Model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'에너지 및 자동화 기술 파트너'로의 진화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슈나이더는 단순 전기기기 제조사가 아닌, 데이터센터·빌딩·산업·인프라 4대 전방시장의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 전환을 통합 솔루션으로 가속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B2B 파트너다.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" y="4381805"/>
            <a:ext cx="1600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Financial Snapshot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410005" y="4905756"/>
            <a:ext cx="3296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410005" y="5143500"/>
            <a:ext cx="32964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€402</a:t>
            </a:r>
            <a:pPr algn="l" indent="0" marL="0">
              <a:buNone/>
            </a:pPr>
            <a:r>
              <a:rPr lang="en-US" sz="22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</a:t>
            </a:r>
            <a:endParaRPr lang="en-US" sz="4000" dirty="0"/>
          </a:p>
        </p:txBody>
      </p:sp>
      <p:sp>
        <p:nvSpPr>
          <p:cNvPr id="24" name="Text 20"/>
          <p:cNvSpPr txBox="1"/>
          <p:nvPr/>
        </p:nvSpPr>
        <p:spPr>
          <a:xfrm>
            <a:off x="1410005" y="5715000"/>
            <a:ext cx="3296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견조한 성장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410505" y="4905756"/>
            <a:ext cx="3296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조정 EBITA 마진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5410505" y="5143500"/>
            <a:ext cx="32964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18.7%</a:t>
            </a:r>
            <a:endParaRPr lang="en-US" sz="4000" dirty="0"/>
          </a:p>
        </p:txBody>
      </p:sp>
      <p:sp>
        <p:nvSpPr>
          <p:cNvPr id="27" name="Text 23"/>
          <p:cNvSpPr txBox="1"/>
          <p:nvPr/>
        </p:nvSpPr>
        <p:spPr>
          <a:xfrm>
            <a:off x="5410505" y="5715000"/>
            <a:ext cx="3296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동급 제조업 최상위권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9411005" y="4905756"/>
            <a:ext cx="3296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사상 최고 수주잔고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9411005" y="5143500"/>
            <a:ext cx="32964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€25</a:t>
            </a:r>
            <a:pPr algn="l" indent="0" marL="0">
              <a:buNone/>
            </a:pPr>
            <a:r>
              <a:rPr lang="en-US" sz="22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</a:t>
            </a:r>
            <a:endParaRPr lang="en-US" sz="4000" dirty="0"/>
          </a:p>
        </p:txBody>
      </p:sp>
      <p:sp>
        <p:nvSpPr>
          <p:cNvPr id="30" name="Text 26"/>
          <p:cNvSpPr txBox="1"/>
          <p:nvPr/>
        </p:nvSpPr>
        <p:spPr>
          <a:xfrm>
            <a:off x="9411005" y="5715000"/>
            <a:ext cx="3296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수요 가시성 확보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3411505" y="4905756"/>
            <a:ext cx="3467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TAM by 2030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13411505" y="5143500"/>
            <a:ext cx="34674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€600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B+</a:t>
            </a:r>
            <a:endParaRPr lang="en-US" sz="4000" dirty="0"/>
          </a:p>
        </p:txBody>
      </p:sp>
      <p:sp>
        <p:nvSpPr>
          <p:cNvPr id="33" name="Text 29"/>
          <p:cNvSpPr txBox="1"/>
          <p:nvPr/>
        </p:nvSpPr>
        <p:spPr>
          <a:xfrm>
            <a:off x="13411505" y="5715000"/>
            <a:ext cx="3467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전방 산업 잠재 진입 시장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143000" y="6667805"/>
            <a:ext cx="1600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전방시장 · 2025 주문 비중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410005" y="7220102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30%</a:t>
            </a:r>
            <a:endParaRPr lang="en-US" sz="3600" dirty="0"/>
          </a:p>
        </p:txBody>
      </p:sp>
      <p:sp>
        <p:nvSpPr>
          <p:cNvPr id="36" name="Text 32"/>
          <p:cNvSpPr txBox="1"/>
          <p:nvPr/>
        </p:nvSpPr>
        <p:spPr>
          <a:xfrm>
            <a:off x="1410005" y="7772400"/>
            <a:ext cx="3296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Center &amp; Networks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1410005" y="8124444"/>
            <a:ext cx="38907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연 10%+ 성장 · AI 인프라 확충 · 전력 및 냉각 설비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5410505" y="7220102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29%</a:t>
            </a:r>
            <a:endParaRPr lang="en-US" sz="3600" dirty="0"/>
          </a:p>
        </p:txBody>
      </p:sp>
      <p:sp>
        <p:nvSpPr>
          <p:cNvPr id="39" name="Text 35"/>
          <p:cNvSpPr txBox="1"/>
          <p:nvPr/>
        </p:nvSpPr>
        <p:spPr>
          <a:xfrm>
            <a:off x="5410505" y="7772400"/>
            <a:ext cx="3296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Buildings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5410505" y="8124444"/>
            <a:ext cx="35195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상업용 건축물 저탄소 고효율화 · 스마트 제어 시스템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9411005" y="7220102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27%</a:t>
            </a:r>
            <a:endParaRPr lang="en-US" sz="3600" dirty="0"/>
          </a:p>
        </p:txBody>
      </p:sp>
      <p:sp>
        <p:nvSpPr>
          <p:cNvPr id="42" name="Text 38"/>
          <p:cNvSpPr txBox="1"/>
          <p:nvPr/>
        </p:nvSpPr>
        <p:spPr>
          <a:xfrm>
            <a:off x="9411005" y="7772400"/>
            <a:ext cx="3296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Industry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9411005" y="8124444"/>
            <a:ext cx="32964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공장 자동화 · 핵심 공정의 친환경 전력 전환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13411505" y="7220102"/>
            <a:ext cx="3467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14%</a:t>
            </a:r>
            <a:endParaRPr lang="en-US" sz="3600" dirty="0"/>
          </a:p>
        </p:txBody>
      </p:sp>
      <p:sp>
        <p:nvSpPr>
          <p:cNvPr id="45" name="Text 41"/>
          <p:cNvSpPr txBox="1"/>
          <p:nvPr/>
        </p:nvSpPr>
        <p:spPr>
          <a:xfrm>
            <a:off x="13411505" y="7772400"/>
            <a:ext cx="34674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13411505" y="8124444"/>
            <a:ext cx="34674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송배전 전력망 현대화 · 신재생 에너지 연계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5143500" cy="4095598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72707" y="4381805"/>
            <a:ext cx="5143500" cy="4095598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0" y="4381805"/>
            <a:ext cx="5143500" cy="4095598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8762695"/>
            <a:ext cx="16002000" cy="76169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pic>
        <p:nvPicPr>
          <p:cNvPr id="11" name="Image 2" descr="gen-dedup-e750a314311d1369577fa84e621ae81c.png">    </p:cNvPr>
          <p:cNvPicPr>
            <a:picLocks noChangeAspect="1"/>
          </p:cNvPicPr>
          <p:nvPr/>
        </p:nvPicPr>
        <p:blipFill>
          <a:blip r:embed="rId3"/>
          <a:srcRect l="-402" r="-402" t="0" b="0"/>
          <a:stretch/>
        </p:blipFill>
        <p:spPr>
          <a:xfrm>
            <a:off x="1143000" y="4381805"/>
            <a:ext cx="57607" cy="4095598"/>
          </a:xfrm>
          <a:prstGeom prst="rect">
            <a:avLst/>
          </a:prstGeom>
        </p:spPr>
      </p:pic>
      <p:pic>
        <p:nvPicPr>
          <p:cNvPr id="12" name="Image 3" descr="gen-dedup-e750a314311d1369577fa84e621ae81c.png">    </p:cNvPr>
          <p:cNvPicPr>
            <a:picLocks noChangeAspect="1"/>
          </p:cNvPicPr>
          <p:nvPr/>
        </p:nvPicPr>
        <p:blipFill>
          <a:blip r:embed="rId4"/>
          <a:srcRect l="-402" r="-402" t="0" b="0"/>
          <a:stretch/>
        </p:blipFill>
        <p:spPr>
          <a:xfrm>
            <a:off x="6572707" y="4381805"/>
            <a:ext cx="57607" cy="4095598"/>
          </a:xfrm>
          <a:prstGeom prst="rect">
            <a:avLst/>
          </a:prstGeom>
        </p:spPr>
      </p:pic>
      <p:pic>
        <p:nvPicPr>
          <p:cNvPr id="13" name="Image 4" descr="gen-dedup-e750a314311d1369577fa84e621ae81c.png">    </p:cNvPr>
          <p:cNvPicPr>
            <a:picLocks noChangeAspect="1"/>
          </p:cNvPicPr>
          <p:nvPr/>
        </p:nvPicPr>
        <p:blipFill>
          <a:blip r:embed="rId5"/>
          <a:srcRect l="-402" r="-402" t="0" b="0"/>
          <a:stretch/>
        </p:blipFill>
        <p:spPr>
          <a:xfrm>
            <a:off x="12001500" y="4381805"/>
            <a:ext cx="57607" cy="409559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43000" y="875995"/>
            <a:ext cx="273222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기업 소개 및 거시 환경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04 / 30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Macro Trends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3대 거시 환경 트렌드와 공급망 복잡성 폭증</a:t>
            </a:r>
            <a:endParaRPr lang="en-US" sz="4000" dirty="0"/>
          </a:p>
        </p:txBody>
      </p:sp>
      <p:sp>
        <p:nvSpPr>
          <p:cNvPr id="18" name="Text 11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1524305" y="3590849"/>
            <a:ext cx="161163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Energy Landscape · Digitalization &amp; AI · Multi-Polar World의 3각 트렌드는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2030년까지 TAM €600B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기회와 동시에 공급망 복잡성을 폭증시킨다.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47495" y="4610405"/>
            <a:ext cx="45345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4800" dirty="0"/>
          </a:p>
        </p:txBody>
      </p:sp>
      <p:sp>
        <p:nvSpPr>
          <p:cNvPr id="21" name="Text 14"/>
          <p:cNvSpPr txBox="1"/>
          <p:nvPr/>
        </p:nvSpPr>
        <p:spPr>
          <a:xfrm>
            <a:off x="1447495" y="5410505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Energy Landscape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447495" y="5705856"/>
            <a:ext cx="453451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에너지는 비용 항목이 아닌 </a:t>
            </a:r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전략적 자원</a:t>
            </a:r>
            <a:pPr algn="l"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으로 격상</a:t>
            </a:r>
            <a:endParaRPr lang="en-US" sz="2100" dirty="0"/>
          </a:p>
        </p:txBody>
      </p:sp>
      <p:sp>
        <p:nvSpPr>
          <p:cNvPr id="23" name="Text 16"/>
          <p:cNvSpPr txBox="1"/>
          <p:nvPr/>
        </p:nvSpPr>
        <p:spPr>
          <a:xfrm>
            <a:off x="1447495" y="6569964"/>
            <a:ext cx="4534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재생에너지·EV 인프라 확산. 산업·건축 전반의 에너지 전환 가속으로 슈나이더 솔루션 수요 구조적 확대.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6877202" y="4610405"/>
            <a:ext cx="45345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4800" dirty="0"/>
          </a:p>
        </p:txBody>
      </p:sp>
      <p:sp>
        <p:nvSpPr>
          <p:cNvPr id="25" name="Text 18"/>
          <p:cNvSpPr txBox="1"/>
          <p:nvPr/>
        </p:nvSpPr>
        <p:spPr>
          <a:xfrm>
            <a:off x="6877202" y="5410505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Digitalization &amp; AI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6877202" y="5705856"/>
            <a:ext cx="475488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학습 1랙당 전력 수요 </a:t>
            </a:r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5배</a:t>
            </a:r>
            <a:pPr algn="l"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증가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6877202" y="6223406"/>
            <a:ext cx="4534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데이터센터용 중전기·정밀 냉각·대용량 UPS·모니터링 수요 폭발. 슈나이더 Data Center 비중 30% 견인.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12305995" y="4610405"/>
            <a:ext cx="45345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4800" dirty="0"/>
          </a:p>
        </p:txBody>
      </p:sp>
      <p:sp>
        <p:nvSpPr>
          <p:cNvPr id="29" name="Text 22"/>
          <p:cNvSpPr txBox="1"/>
          <p:nvPr/>
        </p:nvSpPr>
        <p:spPr>
          <a:xfrm>
            <a:off x="12305995" y="5410505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Multi-Polar World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2305995" y="5705856"/>
            <a:ext cx="5141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저비용 단일국가 집중 → </a:t>
            </a:r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Nearshoring</a:t>
            </a:r>
            <a:endParaRPr lang="en-US" sz="2100" dirty="0"/>
          </a:p>
        </p:txBody>
      </p:sp>
      <p:sp>
        <p:nvSpPr>
          <p:cNvPr id="31" name="Text 24"/>
          <p:cNvSpPr txBox="1"/>
          <p:nvPr/>
        </p:nvSpPr>
        <p:spPr>
          <a:xfrm>
            <a:off x="12305995" y="6223406"/>
            <a:ext cx="4534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무역 장벽·지정학 갈등으로 패러다임 전환. 고객 가까이에 자립적 공급 거점 배치가 필수.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1447495" y="9029700"/>
            <a:ext cx="2286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복잡성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4038905" y="8953805"/>
            <a:ext cx="71826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30만 SKU</a:t>
            </a:r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5만 공급사</a:t>
            </a:r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160개 공장</a:t>
            </a:r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100여 국</a:t>
            </a:r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표준 단일 모델로는 소화 불가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762195"/>
            <a:ext cx="7810805" cy="190469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0" y="4762195"/>
            <a:ext cx="8001000" cy="190469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6858000"/>
            <a:ext cx="7810805" cy="190469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0" y="6858000"/>
            <a:ext cx="8001000" cy="190469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875995"/>
            <a:ext cx="34445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3-A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컨텍스트 및 조직 전략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05 / 30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Demand Patterns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전방 시장별 수요 패턴 — High Variety &amp; Variability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데이터센터 30% 폭발적 수요와 빌딩·산업의 극단적 맞춤형 사양 요구가 공존하여,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표준 공급망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으로는 소화 불가능하다.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4381805"/>
            <a:ext cx="1600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전방시장별 수요 프로필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447495" y="5086807"/>
            <a:ext cx="26892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Center &amp; Networks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923276" y="4953305"/>
            <a:ext cx="7717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30%</a:t>
            </a:r>
            <a:endParaRPr lang="en-US" sz="2800" dirty="0"/>
          </a:p>
        </p:txBody>
      </p:sp>
      <p:pic>
        <p:nvPicPr>
          <p:cNvPr id="20" name="Image 2" descr="gen-dedup-e154dd054d88b1d491c76e6a61d6b648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447495" y="5505602"/>
            <a:ext cx="7239305" cy="91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47495" y="5648249"/>
            <a:ext cx="7239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Lumpy Demand</a:t>
            </a:r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단일 프로젝트 대규모 발주, AI 인프라의 짧은 구축 일정, 정밀 사양 — </a:t>
            </a:r>
            <a:pPr algn="l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속도가 핵심</a:t>
            </a:r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9448495" y="5086807"/>
            <a:ext cx="225582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Buildings + Industry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6090697" y="4953305"/>
            <a:ext cx="7525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56%</a:t>
            </a:r>
            <a:endParaRPr lang="en-US" sz="2800" dirty="0"/>
          </a:p>
        </p:txBody>
      </p:sp>
      <p:pic>
        <p:nvPicPr>
          <p:cNvPr id="24" name="Image 3" descr="gen-dedup-9e2fdc016ff60f97def0859055610473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9448495" y="5505602"/>
            <a:ext cx="7391095" cy="91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48495" y="5648249"/>
            <a:ext cx="7392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Variety</a:t>
            </a:r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고객별 극단적 맞춤 사양. 30만 SKU 중 상당수가 B2B 맞춤 변형 — </a:t>
            </a:r>
            <a:pPr algn="l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유연성이 핵심</a:t>
            </a:r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1447495" y="7181698"/>
            <a:ext cx="156453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009230" y="7048195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14%</a:t>
            </a:r>
            <a:endParaRPr lang="en-US" sz="2800" dirty="0"/>
          </a:p>
        </p:txBody>
      </p:sp>
      <p:pic>
        <p:nvPicPr>
          <p:cNvPr id="28" name="Image 4" descr="gen-dedup-e154dd054d88b1d491c76e6a61d6b648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1447495" y="7601407"/>
            <a:ext cx="7239305" cy="91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447495" y="7744054"/>
            <a:ext cx="7239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Long Cycle</a:t>
            </a:r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송배전 전력망 현대화. 안정성·내구성 요구, 장기 계약 사이클 — </a:t>
            </a:r>
            <a:pPr algn="l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신뢰성이 핵심</a:t>
            </a:r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9448495" y="7048195"/>
            <a:ext cx="7392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운영적 함의 (Operational Implication)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9448495" y="7362749"/>
            <a:ext cx="73920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Mass Customization을 가능케 하는 </a:t>
            </a:r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Modular Architecture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</a:t>
            </a:r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Postponement Boundary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설계가 필수 조건. 단순 Push도 단순 Pull도 답이 아니며, 하이브리드 구조가 유일한 해법이다. 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11ff4e00831ca099d0d9ae2a8f110fd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524098"/>
            <a:ext cx="5162702" cy="1923898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72707" y="3524098"/>
            <a:ext cx="5162702" cy="1923898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01500" y="3524098"/>
            <a:ext cx="5162702" cy="1923898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5619902"/>
            <a:ext cx="5162702" cy="1923898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72707" y="5619902"/>
            <a:ext cx="5143500" cy="1904695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01500" y="5619902"/>
            <a:ext cx="5162702" cy="1923898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3000" y="7905902"/>
            <a:ext cx="16002000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gen-dedup-6d10cc2b63dd7bc631b2598df8839196.png">    </p:cNvPr>
          <p:cNvPicPr>
            <a:picLocks noChangeAspect="1"/>
          </p:cNvPicPr>
          <p:nvPr/>
        </p:nvPicPr>
        <p:blipFill>
          <a:blip r:embed="rId2"/>
          <a:srcRect l="0" r="0" t="-206" b="-206"/>
          <a:stretch/>
        </p:blipFill>
        <p:spPr>
          <a:xfrm>
            <a:off x="1143000" y="7905902"/>
            <a:ext cx="75895" cy="1619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875995"/>
            <a:ext cx="34445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3-A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컨텍스트 및 조직 전략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06 / 30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Supply Side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5만 공급사 × 30만 SKU 통제 과제</a:t>
            </a:r>
            <a:endParaRPr lang="en-US" sz="40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3047695"/>
            <a:ext cx="1600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 공급망 규모 — 6개 핵심 지표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447495" y="3733495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공장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447495" y="4028846"/>
            <a:ext cx="45345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~160</a:t>
            </a:r>
            <a:pPr algn="l" indent="0" marL="0">
              <a:buNone/>
            </a:pPr>
            <a:r>
              <a:rPr lang="en-US" sz="30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개</a:t>
            </a:r>
            <a:endParaRPr lang="en-US" sz="7200" dirty="0"/>
          </a:p>
        </p:txBody>
      </p:sp>
      <p:sp>
        <p:nvSpPr>
          <p:cNvPr id="20" name="Text 16"/>
          <p:cNvSpPr txBox="1"/>
          <p:nvPr/>
        </p:nvSpPr>
        <p:spPr>
          <a:xfrm>
            <a:off x="1447495" y="5076749"/>
            <a:ext cx="4534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 생산 거점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877202" y="3733495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공급업체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877202" y="4028846"/>
            <a:ext cx="45345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50K</a:t>
            </a:r>
            <a:pPr algn="l" indent="0" marL="0">
              <a:buNone/>
            </a:pPr>
            <a:r>
              <a:rPr lang="en-US" sz="30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+</a:t>
            </a:r>
            <a:endParaRPr lang="en-US" sz="7200" dirty="0"/>
          </a:p>
        </p:txBody>
      </p:sp>
      <p:sp>
        <p:nvSpPr>
          <p:cNvPr id="23" name="Text 19"/>
          <p:cNvSpPr txBox="1"/>
          <p:nvPr/>
        </p:nvSpPr>
        <p:spPr>
          <a:xfrm>
            <a:off x="6877202" y="5076749"/>
            <a:ext cx="4534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서플라이어 네트워크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2305995" y="3733495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완제품 SKU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2305995" y="4028846"/>
            <a:ext cx="45345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300K</a:t>
            </a:r>
            <a:pPr algn="l" indent="0" marL="0">
              <a:buNone/>
            </a:pPr>
            <a:r>
              <a:rPr lang="en-US" sz="30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+</a:t>
            </a:r>
            <a:endParaRPr lang="en-US" sz="7200" dirty="0"/>
          </a:p>
        </p:txBody>
      </p:sp>
      <p:sp>
        <p:nvSpPr>
          <p:cNvPr id="26" name="Text 22"/>
          <p:cNvSpPr txBox="1"/>
          <p:nvPr/>
        </p:nvSpPr>
        <p:spPr>
          <a:xfrm>
            <a:off x="12305995" y="5076749"/>
            <a:ext cx="4534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변종(Variant) 수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447495" y="5829300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물류센터(DC)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447495" y="6124651"/>
            <a:ext cx="45345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~75</a:t>
            </a:r>
            <a:pPr algn="l" indent="0" marL="0">
              <a:buNone/>
            </a:pPr>
            <a:r>
              <a:rPr lang="en-US" sz="30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개</a:t>
            </a:r>
            <a:endParaRPr lang="en-US" sz="7200" dirty="0"/>
          </a:p>
        </p:txBody>
      </p:sp>
      <p:sp>
        <p:nvSpPr>
          <p:cNvPr id="29" name="Text 25"/>
          <p:cNvSpPr txBox="1"/>
          <p:nvPr/>
        </p:nvSpPr>
        <p:spPr>
          <a:xfrm>
            <a:off x="1447495" y="7172554"/>
            <a:ext cx="4534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디스트리뷰션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6877202" y="5829300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 주문 라인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6877202" y="6124651"/>
            <a:ext cx="45345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F242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150K</a:t>
            </a:r>
            <a:endParaRPr lang="en-US" sz="7200" dirty="0"/>
          </a:p>
        </p:txBody>
      </p:sp>
      <p:sp>
        <p:nvSpPr>
          <p:cNvPr id="32" name="Text 28"/>
          <p:cNvSpPr txBox="1"/>
          <p:nvPr/>
        </p:nvSpPr>
        <p:spPr>
          <a:xfrm>
            <a:off x="6877202" y="7172554"/>
            <a:ext cx="4534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 처리하는 주문 라인 수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2305995" y="5829300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국가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12305995" y="6124651"/>
            <a:ext cx="45345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100</a:t>
            </a:r>
            <a:pPr algn="l" indent="0" marL="0">
              <a:buNone/>
            </a:pPr>
            <a:r>
              <a:rPr lang="en-US" sz="30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+</a:t>
            </a:r>
            <a:endParaRPr lang="en-US" sz="7200" dirty="0"/>
          </a:p>
        </p:txBody>
      </p:sp>
      <p:sp>
        <p:nvSpPr>
          <p:cNvPr id="35" name="Text 31"/>
          <p:cNvSpPr txBox="1"/>
          <p:nvPr/>
        </p:nvSpPr>
        <p:spPr>
          <a:xfrm>
            <a:off x="12305995" y="7172554"/>
            <a:ext cx="4534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사업 국가 수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524305" y="8096098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통제력의 본질 — 기술 인프라가 답이다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524305" y="8391449"/>
            <a:ext cx="15430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분산된 데이터 파편을 단일 가시성으로 통합하는 </a:t>
            </a:r>
            <a:pPr algn="l" indent="0" marL="0">
              <a:buNone/>
            </a:pPr>
            <a:r>
              <a:rPr lang="en-US" sz="14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Kinaxis Maestro</a:t>
            </a:r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(S&amp;OP) + </a:t>
            </a:r>
            <a:pPr algn="l" indent="0" marL="0">
              <a:buNone/>
            </a:pPr>
            <a:r>
              <a:rPr lang="en-US" sz="14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Coupa</a:t>
            </a:r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(운송 최적화) + </a:t>
            </a:r>
            <a:pPr algn="l" indent="0" marL="0">
              <a:buNone/>
            </a:pPr>
            <a:r>
              <a:rPr lang="en-US" sz="14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EcoStruxure</a:t>
            </a:r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(IoT) 삼각편대. 2025년 그룹 DIN(재고 보유 일수) </a:t>
            </a:r>
            <a:pPr algn="l" indent="0" marL="0">
              <a:buNone/>
            </a:pPr>
            <a:r>
              <a:rPr lang="en-US" sz="14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전년비 3영업일+ 압축</a:t>
            </a:r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통제력의 정량 증거. 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762195"/>
            <a:ext cx="5143500" cy="361919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72707" y="4762195"/>
            <a:ext cx="5143500" cy="361919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0" y="4762195"/>
            <a:ext cx="5143500" cy="361919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8572500"/>
            <a:ext cx="16002000" cy="95280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pic>
        <p:nvPicPr>
          <p:cNvPr id="11" name="Image 2" descr="gen-dedup-0107d1ae14c09339e348ad4b6225522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143000" y="4762195"/>
            <a:ext cx="5143500" cy="57607"/>
          </a:xfrm>
          <a:prstGeom prst="rect">
            <a:avLst/>
          </a:prstGeom>
        </p:spPr>
      </p:pic>
      <p:pic>
        <p:nvPicPr>
          <p:cNvPr id="12" name="Image 3" descr="gen-dedup-0107d1ae14c09339e348ad4b62255229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6572707" y="4762195"/>
            <a:ext cx="5143500" cy="57607"/>
          </a:xfrm>
          <a:prstGeom prst="rect">
            <a:avLst/>
          </a:prstGeom>
        </p:spPr>
      </p:pic>
      <p:pic>
        <p:nvPicPr>
          <p:cNvPr id="13" name="Image 4" descr="gen-dedup-0107d1ae14c09339e348ad4b62255229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12001500" y="4762195"/>
            <a:ext cx="5143500" cy="5760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43000" y="875995"/>
            <a:ext cx="34445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3-A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컨텍스트 및 조직 전략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07 / 30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Generic Business Strategy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기술 리더십과 고객 차별화의 정렬</a:t>
            </a:r>
            <a:endParaRPr lang="en-US" sz="4000" dirty="0"/>
          </a:p>
        </p:txBody>
      </p:sp>
      <p:sp>
        <p:nvSpPr>
          <p:cNvPr id="18" name="Text 11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슈나이더는 가격 인하 경쟁이 아닌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리더십 · 고객 차별화 · 운영 탁월성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삼각 정렬로 질적 차별화를 달성한다.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4381805"/>
            <a:ext cx="1600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3대 본원적 전략 축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447495" y="5048402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Pillar 01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447495" y="5324551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Technology Leadership</a:t>
            </a:r>
            <a:endParaRPr lang="en-US" sz="2400" dirty="0"/>
          </a:p>
        </p:txBody>
      </p:sp>
      <p:pic>
        <p:nvPicPr>
          <p:cNvPr id="23" name="Image 5" descr="gen-dedup-679b89e2cb2a167b3e37c7a65c5f5be0.png">    </p:cNvPr>
          <p:cNvPicPr>
            <a:picLocks noChangeAspect="1"/>
          </p:cNvPicPr>
          <p:nvPr/>
        </p:nvPicPr>
        <p:blipFill>
          <a:blip r:embed="rId6"/>
          <a:srcRect l="-2078" r="-2078" t="0" b="0"/>
          <a:stretch/>
        </p:blipFill>
        <p:spPr>
          <a:xfrm>
            <a:off x="1447495" y="5861304"/>
            <a:ext cx="4533595" cy="91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47495" y="6023153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EcoStruxure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IoT 클라우드 플랫폼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1447495" y="6335878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AVEVA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엔지니어링 SW 통합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1447495" y="6647688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ETAP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전력 시스템 분석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1447495" y="6978701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기반 솔루션 선점, 경쟁사 대비 SW 통합도 압도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6877202" y="5048402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Pillar 02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6877202" y="5324551"/>
            <a:ext cx="464972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Customer Differentiation</a:t>
            </a:r>
            <a:endParaRPr lang="en-US" sz="2400" dirty="0"/>
          </a:p>
        </p:txBody>
      </p:sp>
      <p:pic>
        <p:nvPicPr>
          <p:cNvPr id="30" name="Image 6" descr="gen-dedup-679b89e2cb2a167b3e37c7a65c5f5be0.png">    </p:cNvPr>
          <p:cNvPicPr>
            <a:picLocks noChangeAspect="1"/>
          </p:cNvPicPr>
          <p:nvPr/>
        </p:nvPicPr>
        <p:blipFill>
          <a:blip r:embed="rId7"/>
          <a:srcRect l="-2078" r="-2078" t="0" b="0"/>
          <a:stretch/>
        </p:blipFill>
        <p:spPr>
          <a:xfrm>
            <a:off x="6877202" y="5861304"/>
            <a:ext cx="4533595" cy="91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77202" y="6023153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고객별 </a:t>
            </a:r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사양·계약주기·SLA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차별 대응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6877202" y="6335878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NSS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(Net Satisfaction Score) 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63점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2025 사상 최고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6877202" y="6647688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OTD 추적 → 고객 유대 중심 KPI로 전환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6877202" y="6978701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단일 프로젝트 비중 높은 B2B 특성에 맞춘 차별화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12305995" y="5048402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Pillar 03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12305995" y="5324551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Operational Excellence</a:t>
            </a:r>
            <a:endParaRPr lang="en-US" sz="2400" dirty="0"/>
          </a:p>
        </p:txBody>
      </p:sp>
      <p:pic>
        <p:nvPicPr>
          <p:cNvPr id="37" name="Image 7" descr="gen-dedup-65c6806cc4ed206d2dc3a9747717f36b.png">    </p:cNvPr>
          <p:cNvPicPr>
            <a:picLocks noChangeAspect="1"/>
          </p:cNvPicPr>
          <p:nvPr/>
        </p:nvPicPr>
        <p:blipFill>
          <a:blip r:embed="rId8"/>
          <a:srcRect l="-2078" r="-2078" t="0" b="0"/>
          <a:stretch/>
        </p:blipFill>
        <p:spPr>
          <a:xfrm>
            <a:off x="12305995" y="5861304"/>
            <a:ext cx="4533595" cy="914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2305995" y="6023153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160개 공장 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Lean · SMED · 디지털 Poka-Yoke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표준화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12305995" y="6335878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중대 결함 리콜 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24건 → 3건</a:t>
            </a:r>
            <a:endParaRPr lang="en-US" sz="1100" dirty="0"/>
          </a:p>
        </p:txBody>
      </p:sp>
      <p:sp>
        <p:nvSpPr>
          <p:cNvPr id="40" name="Text 30"/>
          <p:cNvSpPr txBox="1"/>
          <p:nvPr/>
        </p:nvSpPr>
        <p:spPr>
          <a:xfrm>
            <a:off x="12305995" y="6647688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Continuous Improvement 문화 내재화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12305995" y="6978701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일선의 Bottom-up 개선 제안이 일상화된 시스템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1447495" y="8796528"/>
            <a:ext cx="210677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가치 (Foundation)</a:t>
            </a:r>
            <a:endParaRPr lang="en-US" sz="900" dirty="0"/>
          </a:p>
        </p:txBody>
      </p:sp>
      <p:sp>
        <p:nvSpPr>
          <p:cNvPr id="43" name="Text 33"/>
          <p:cNvSpPr txBox="1"/>
          <p:nvPr/>
        </p:nvSpPr>
        <p:spPr>
          <a:xfrm>
            <a:off x="3674974" y="8762695"/>
            <a:ext cx="9906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Talent Development</a:t>
            </a:r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</a:t>
            </a:r>
            <a:pPr algn="l" indent="0" marL="0">
              <a:buNone/>
            </a:pPr>
            <a:r>
              <a:rPr lang="en-US" sz="13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Environmental Sustainability</a:t>
            </a:r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3축의 토대이자 Scope 1·2·3 탄소 감축이 ESG 20% 점수의 핵심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7905902" cy="4000500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30207" y="4381805"/>
            <a:ext cx="7715707" cy="40005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8667598"/>
            <a:ext cx="16002000" cy="857707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pic>
        <p:nvPicPr>
          <p:cNvPr id="10" name="Image 2" descr="gen-dedup-04caf9b84459cffbe74234e307abeb6c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9430207" y="4381805"/>
            <a:ext cx="57607" cy="40005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875995"/>
            <a:ext cx="34445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3-A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컨텍스트 및 조직 전략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08 / 30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Competitive Priorities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Cost vs Resilience의 상충 극복</a:t>
            </a:r>
            <a:endParaRPr lang="en-US" sz="4000" dirty="0"/>
          </a:p>
        </p:txBody>
      </p:sp>
      <p:sp>
        <p:nvSpPr>
          <p:cNvPr id="15" name="Text 10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슈나이더는 전통적 Cost-Resilience 트레이드오프를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가시성 + Nearshoring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동시 해소했다.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47495" y="4610405"/>
            <a:ext cx="7296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 트레이드오프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447495" y="4981651"/>
            <a:ext cx="7296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Cost ↔ Resilience</a:t>
            </a:r>
            <a:endParaRPr lang="en-US" sz="2700" dirty="0"/>
          </a:p>
        </p:txBody>
      </p:sp>
      <p:sp>
        <p:nvSpPr>
          <p:cNvPr id="19" name="Shape 14"/>
          <p:cNvSpPr/>
          <p:nvPr/>
        </p:nvSpPr>
        <p:spPr>
          <a:xfrm>
            <a:off x="1447495" y="5655564"/>
            <a:ext cx="7295998" cy="8476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1447495" y="5655564"/>
            <a:ext cx="38405" cy="847649"/>
          </a:xfrm>
          <a:prstGeom prst="rect">
            <a:avLst/>
          </a:prstGeom>
          <a:solidFill>
            <a:srgbClr val="9A2C2C"/>
          </a:solidFill>
          <a:ln w="12700">
            <a:solidFill>
              <a:srgbClr val="9A2C2C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695298" y="5827471"/>
            <a:ext cx="6839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쪽 선택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695298" y="6094476"/>
            <a:ext cx="68397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저비용 단일국가 집중 생산으로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↑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하지만 지정학·물류 충격에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447495" y="6673291"/>
            <a:ext cx="7295998" cy="8476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1447495" y="6673291"/>
            <a:ext cx="38405" cy="847649"/>
          </a:xfrm>
          <a:prstGeom prst="rect">
            <a:avLst/>
          </a:prstGeom>
          <a:solidFill>
            <a:srgbClr val="9A2C2C"/>
          </a:solidFill>
          <a:ln w="12700">
            <a:solidFill>
              <a:srgbClr val="9A2C2C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695298" y="6844284"/>
            <a:ext cx="6839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쪽 선택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695298" y="7111289"/>
            <a:ext cx="68397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Multi-regional Nearshoring으로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Resilience ↑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하지만 규모의 경제 손실로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상승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9734702" y="4610405"/>
            <a:ext cx="710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슈나이더의 극복 메커니즘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9734702" y="4981651"/>
            <a:ext cx="71058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Cost </a:t>
            </a:r>
            <a:pPr algn="l" indent="0" marL="0">
              <a:buNone/>
            </a:pPr>
            <a:r>
              <a:rPr lang="en-US" sz="27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+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Resilience </a:t>
            </a:r>
            <a:endParaRPr lang="en-US" sz="2700" dirty="0"/>
          </a:p>
        </p:txBody>
      </p:sp>
      <p:sp>
        <p:nvSpPr>
          <p:cNvPr id="29" name="Shape 24"/>
          <p:cNvSpPr/>
          <p:nvPr/>
        </p:nvSpPr>
        <p:spPr>
          <a:xfrm>
            <a:off x="9734702" y="6131966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734702" y="5779922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0248595" y="5779922"/>
            <a:ext cx="6591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Multi-hub 지역 생산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4대 전방시장 가까이 자립 거점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9734702" y="6611112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9734702" y="6258154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10248595" y="6258154"/>
            <a:ext cx="6591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Kinaxis Concurrent Planning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단일 데이터 위 동시 시뮬레이션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9734702" y="7089343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734702" y="6737299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10248595" y="6737299"/>
            <a:ext cx="6591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Dual Sourcing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(전략·병목 품목) — 단일 라인 정지 대비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9734702" y="721553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10248595" y="7215530"/>
            <a:ext cx="6591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 표준화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Risk Pooling 효과로 안전재고 절감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1447495" y="8891626"/>
            <a:ext cx="2286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결과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4038905" y="8858707"/>
            <a:ext cx="103546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코로나·반도체 쇼크·지정학 위기를 통과하며 매출 성장과 </a:t>
            </a:r>
            <a:pPr algn="l" indent="0" marL="0">
              <a:buNone/>
            </a:pPr>
            <a:r>
              <a:rPr lang="en-US" sz="13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조정 EBITA 마진 18.7%</a:t>
            </a:r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동시 방어 — 트레이드오프 극복의 실증.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762195"/>
            <a:ext cx="5143500" cy="2857500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72707" y="4762195"/>
            <a:ext cx="5143500" cy="2857500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0" y="4762195"/>
            <a:ext cx="5143500" cy="28575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7905902"/>
            <a:ext cx="16040405" cy="1657807"/>
          </a:xfrm>
          <a:prstGeom prst="rect">
            <a:avLst/>
          </a:prstGeom>
          <a:solidFill>
            <a:srgbClr val="FFFFFF"/>
          </a:solidFill>
          <a:ln w="25400">
            <a:solidFill>
              <a:srgbClr val="3DCD58"/>
            </a:solidFill>
            <a:prstDash val="solid"/>
          </a:ln>
        </p:spPr>
      </p:sp>
      <p:pic>
        <p:nvPicPr>
          <p:cNvPr id="10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875995"/>
            <a:ext cx="37490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3-B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네트워크 및 흐름의 시각화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09 / 30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Upstream Sourcing Network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Multi-hub Regionalization 조달 구조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슈나이더의 업스트림은 단일 글로벌 허브가 아닌,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전방시장 가까이 자립적 지역화(Regionalization)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구조다.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4381805"/>
            <a:ext cx="1600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Multi-hub 배치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447495" y="4953305"/>
            <a:ext cx="45345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North America Hub</a:t>
            </a:r>
            <a:endParaRPr lang="en-US" sz="2100" dirty="0"/>
          </a:p>
        </p:txBody>
      </p:sp>
      <p:pic>
        <p:nvPicPr>
          <p:cNvPr id="19" name="Image 2" descr="gen-dedup-679b89e2cb2a167b3e37c7a65c5f5be0.png">    </p:cNvPr>
          <p:cNvPicPr>
            <a:picLocks noChangeAspect="1"/>
          </p:cNvPicPr>
          <p:nvPr/>
        </p:nvPicPr>
        <p:blipFill>
          <a:blip r:embed="rId3"/>
          <a:srcRect l="-2078" r="-2078" t="0" b="0"/>
          <a:stretch/>
        </p:blipFill>
        <p:spPr>
          <a:xfrm>
            <a:off x="1447495" y="5352898"/>
            <a:ext cx="4533595" cy="91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47495" y="5495544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거점: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멕시코 Tlaxcala(STP) · 미국 다수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447495" y="5808269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시장: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데이터센터 폭발 수요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447495" y="6120079"/>
            <a:ext cx="45345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의의: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아시아 오프쇼어링 탈피 → 리드타임 단축 + 관세 회피 + USMCA 활용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877202" y="4953305"/>
            <a:ext cx="45345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EMEA Hub</a:t>
            </a:r>
            <a:endParaRPr lang="en-US" sz="2100" dirty="0"/>
          </a:p>
        </p:txBody>
      </p:sp>
      <p:pic>
        <p:nvPicPr>
          <p:cNvPr id="24" name="Image 3" descr="gen-dedup-679b89e2cb2a167b3e37c7a65c5f5be0.png">    </p:cNvPr>
          <p:cNvPicPr>
            <a:picLocks noChangeAspect="1"/>
          </p:cNvPicPr>
          <p:nvPr/>
        </p:nvPicPr>
        <p:blipFill>
          <a:blip r:embed="rId4"/>
          <a:srcRect l="-2078" r="-2078" t="0" b="0"/>
          <a:stretch/>
        </p:blipFill>
        <p:spPr>
          <a:xfrm>
            <a:off x="6877202" y="5352898"/>
            <a:ext cx="4533595" cy="91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877202" y="5495544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거점: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프랑스 본사 + 동유럽 Near-shore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877202" y="5808269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시장: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Buildings · Infrastructure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877202" y="6120079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의의: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EU 그린딜·CBAM 대응, 저탄소 공급망 인증 가속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12305995" y="4953305"/>
            <a:ext cx="45345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Asia Hub</a:t>
            </a:r>
            <a:endParaRPr lang="en-US" sz="2100" dirty="0"/>
          </a:p>
        </p:txBody>
      </p:sp>
      <p:pic>
        <p:nvPicPr>
          <p:cNvPr id="29" name="Image 4" descr="gen-dedup-65c6806cc4ed206d2dc3a9747717f36b.png">    </p:cNvPr>
          <p:cNvPicPr>
            <a:picLocks noChangeAspect="1"/>
          </p:cNvPicPr>
          <p:nvPr/>
        </p:nvPicPr>
        <p:blipFill>
          <a:blip r:embed="rId5"/>
          <a:srcRect l="-2078" r="-2078" t="0" b="0"/>
          <a:stretch/>
        </p:blipFill>
        <p:spPr>
          <a:xfrm>
            <a:off x="12305995" y="5352898"/>
            <a:ext cx="4533595" cy="91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305995" y="5495544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거점: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중국 + 인도 + 동남아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12305995" y="5808269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시장: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Industry 자동화 · 신흥국 인프라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12305995" y="6120079"/>
            <a:ext cx="4534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의의: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In-region for region 정책 — 현지 수요 현지 공급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1447495" y="8096098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Pooling 메커니즘 — Multi-hub의 결정적 이점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447495" y="8410651"/>
            <a:ext cx="7601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Standardization: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동일 모듈 부품을 다수 완제품 라인업에 공유 — 부품 단계 Risk Pooling 효과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9277502" y="8410651"/>
            <a:ext cx="7601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Procurement Standardization: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범용 핵심 설비(프레스 라인 등)가 다양한 제품군을 유연 소화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7905902"/>
            <a:ext cx="7429500" cy="1524305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875995"/>
            <a:ext cx="37490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3-B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네트워크 및 흐름의 시각화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10 / 30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Downstream Distribution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75개 DC가 하루 15만 주문 라인 처리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75개 물류센터가 100개국에 분산 배치되어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15만 개 주문 라인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처리하는 다채널 유통 네트워크다.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4381805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0" b="1" spc="-540" kern="0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75</a:t>
            </a:r>
            <a:pPr algn="l" indent="0" marL="0">
              <a:buNone/>
            </a:pPr>
            <a:r>
              <a:rPr lang="en-US" sz="13500" b="1" spc="-54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개</a:t>
            </a:r>
            <a:endParaRPr lang="en-US" sz="135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6229807"/>
            <a:ext cx="7429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물류센터(DC). 각 DC가 인근 다채널(직판 · Distributor · OEM · E-commerce)을 동시 커버.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447495" y="8115300"/>
            <a:ext cx="6858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 처리 용량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447495" y="8372246"/>
            <a:ext cx="6858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242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150,000 lines/day</a:t>
            </a:r>
            <a:endParaRPr lang="en-US" sz="4800" dirty="0"/>
          </a:p>
        </p:txBody>
      </p:sp>
      <p:sp>
        <p:nvSpPr>
          <p:cNvPr id="18" name="Text 14"/>
          <p:cNvSpPr txBox="1"/>
          <p:nvPr/>
        </p:nvSpPr>
        <p:spPr>
          <a:xfrm>
            <a:off x="1447495" y="9058046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창고 + WMS + Cross-docking 결합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953805" y="4381805"/>
            <a:ext cx="8192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채널별 다운스트림 최적화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953805" y="5411419"/>
            <a:ext cx="8191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953805" y="4962449"/>
            <a:ext cx="1239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Direct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0401300" y="4962449"/>
            <a:ext cx="67437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데이터센터 대형 프로젝트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단일 발주 규모가 커 본사 직판으로 사양·일정 직접 관리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953805" y="6039612"/>
            <a:ext cx="8191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953805" y="5591556"/>
            <a:ext cx="147401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Distributor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0401300" y="5591556"/>
            <a:ext cx="67437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빌딩·산업 시장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지역 전문 Distributor가 다수 사양·소량 주문 흡수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953805" y="6668719"/>
            <a:ext cx="8191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953805" y="6219749"/>
            <a:ext cx="1239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OEM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10401300" y="6219749"/>
            <a:ext cx="67437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제조사 통합 공급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핵심 부품·모듈을 완제품 메이커에 B2B 공급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953805" y="6848856"/>
            <a:ext cx="1239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E-comm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10401300" y="6848856"/>
            <a:ext cx="67437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부품·MRO·소모품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Coupa 자동화 시스템 연계, 행정비용 최소화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953805" y="7524598"/>
            <a:ext cx="8191195" cy="552298"/>
          </a:xfrm>
          <a:prstGeom prst="rect">
            <a:avLst/>
          </a:prstGeom>
          <a:solidFill>
            <a:srgbClr val="1A3636"/>
          </a:solidFill>
          <a:ln/>
        </p:spPr>
      </p:sp>
      <p:sp>
        <p:nvSpPr>
          <p:cNvPr id="32" name="Shape 28"/>
          <p:cNvSpPr/>
          <p:nvPr/>
        </p:nvSpPr>
        <p:spPr>
          <a:xfrm>
            <a:off x="8953805" y="7524598"/>
            <a:ext cx="38405" cy="552298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201607" y="7696505"/>
            <a:ext cx="84207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구조: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Central Warehouse + Regional DC 2단 — 고변동·저회전 SKU는 중앙 집중, 안정·고회전은 분산 —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 Pooling 효과 극대화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5143500" cy="4572000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72707" y="4381805"/>
            <a:ext cx="5143500" cy="4572000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0" y="4381805"/>
            <a:ext cx="5143500" cy="45720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pic>
        <p:nvPicPr>
          <p:cNvPr id="10" name="Image 2" descr="gen-dedup-0330768965c2695a7592ddff40e48da2.png">    </p:cNvPr>
          <p:cNvPicPr>
            <a:picLocks noChangeAspect="1"/>
          </p:cNvPicPr>
          <p:nvPr/>
        </p:nvPicPr>
        <p:blipFill>
          <a:blip r:embed="rId3"/>
          <a:srcRect l="-201" r="-201" t="0" b="0"/>
          <a:stretch/>
        </p:blipFill>
        <p:spPr>
          <a:xfrm>
            <a:off x="1143000" y="4381805"/>
            <a:ext cx="5143500" cy="75895"/>
          </a:xfrm>
          <a:prstGeom prst="rect">
            <a:avLst/>
          </a:prstGeom>
        </p:spPr>
      </p:pic>
      <p:pic>
        <p:nvPicPr>
          <p:cNvPr id="11" name="Image 3" descr="gen-dedup-0330768965c2695a7592ddff40e48da2.png">    </p:cNvPr>
          <p:cNvPicPr>
            <a:picLocks noChangeAspect="1"/>
          </p:cNvPicPr>
          <p:nvPr/>
        </p:nvPicPr>
        <p:blipFill>
          <a:blip r:embed="rId4"/>
          <a:srcRect l="-201" r="-201" t="0" b="0"/>
          <a:stretch/>
        </p:blipFill>
        <p:spPr>
          <a:xfrm>
            <a:off x="6572707" y="4381805"/>
            <a:ext cx="5143500" cy="75895"/>
          </a:xfrm>
          <a:prstGeom prst="rect">
            <a:avLst/>
          </a:prstGeom>
        </p:spPr>
      </p:pic>
      <p:pic>
        <p:nvPicPr>
          <p:cNvPr id="12" name="Image 4" descr="gen-dedup-0330768965c2695a7592ddff40e48da2.png">    </p:cNvPr>
          <p:cNvPicPr>
            <a:picLocks noChangeAspect="1"/>
          </p:cNvPicPr>
          <p:nvPr/>
        </p:nvPicPr>
        <p:blipFill>
          <a:blip r:embed="rId5"/>
          <a:srcRect l="-201" r="-201" t="0" b="0"/>
          <a:stretch/>
        </p:blipFill>
        <p:spPr>
          <a:xfrm>
            <a:off x="12001500" y="4381805"/>
            <a:ext cx="5143500" cy="758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875995"/>
            <a:ext cx="37490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3-B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네트워크 및 흐름의 시각화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11 / 30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Three Flows Synchronization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Material · Information · Financial Flow 동기화</a:t>
            </a:r>
            <a:endParaRPr lang="en-US" sz="4000" dirty="0"/>
          </a:p>
        </p:txBody>
      </p:sp>
      <p:sp>
        <p:nvSpPr>
          <p:cNvPr id="17" name="Text 10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슈나이더는 3대 흐름을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Kinaxis Maestro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위에서 동시 매핑하여 채찍효과(Bullwhip)를 상류에서 원천 차단한다.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1447495" y="4705502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Flow 01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447495" y="4981651"/>
            <a:ext cx="4534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Material Flow</a:t>
            </a:r>
            <a:endParaRPr lang="en-US" sz="2200" dirty="0"/>
          </a:p>
        </p:txBody>
      </p:sp>
      <p:pic>
        <p:nvPicPr>
          <p:cNvPr id="21" name="Image 5" descr="gen-dedup-679b89e2cb2a167b3e37c7a65c5f5be0.png">    </p:cNvPr>
          <p:cNvPicPr>
            <a:picLocks noChangeAspect="1"/>
          </p:cNvPicPr>
          <p:nvPr/>
        </p:nvPicPr>
        <p:blipFill>
          <a:blip r:embed="rId6"/>
          <a:srcRect l="-2078" r="-2078" t="0" b="0"/>
          <a:stretch/>
        </p:blipFill>
        <p:spPr>
          <a:xfrm>
            <a:off x="1447495" y="5400446"/>
            <a:ext cx="4533595" cy="91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447495" y="5562295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원자재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부품 공장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1447495" y="5862218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모듈 생산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1447495" y="6163056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최종 조립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1447495" y="6462979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완제품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DC → 고객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1447495" y="6896405"/>
            <a:ext cx="4533595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19"/>
          <p:cNvSpPr/>
          <p:nvPr/>
        </p:nvSpPr>
        <p:spPr>
          <a:xfrm>
            <a:off x="1447495" y="6896405"/>
            <a:ext cx="38405" cy="466344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1657807" y="7029907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STP 혁신:</a:t>
            </a:r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5단계 창고 대기 → 입고 후 48시간 내 조립 셀 직송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6877202" y="4705502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Flow 02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6877202" y="4981651"/>
            <a:ext cx="4534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Information Flow</a:t>
            </a:r>
            <a:endParaRPr lang="en-US" sz="2200" dirty="0"/>
          </a:p>
        </p:txBody>
      </p:sp>
      <p:pic>
        <p:nvPicPr>
          <p:cNvPr id="31" name="Image 6" descr="gen-dedup-679b89e2cb2a167b3e37c7a65c5f5be0.png">    </p:cNvPr>
          <p:cNvPicPr>
            <a:picLocks noChangeAspect="1"/>
          </p:cNvPicPr>
          <p:nvPr/>
        </p:nvPicPr>
        <p:blipFill>
          <a:blip r:embed="rId7"/>
          <a:srcRect l="-2078" r="-2078" t="0" b="0"/>
          <a:stretch/>
        </p:blipFill>
        <p:spPr>
          <a:xfrm>
            <a:off x="6877202" y="5400446"/>
            <a:ext cx="4533595" cy="91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877202" y="5862218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Kinaxis Maestro 단일화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6877202" y="6163056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합의 예측(Consensus Forecast)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6877202" y="6462979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영업·생산·R&amp;D·재무 단일 뷰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877202" y="6896405"/>
            <a:ext cx="4533595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27"/>
          <p:cNvSpPr/>
          <p:nvPr/>
        </p:nvSpPr>
        <p:spPr>
          <a:xfrm>
            <a:off x="6877202" y="6896405"/>
            <a:ext cx="38405" cy="466344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7086600" y="7029907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Concurrent Planning:</a:t>
            </a:r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수요 변동 즉시 공급·CAPA·재고 동기화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6877202" y="5581498"/>
            <a:ext cx="2034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POS·발주·재고·생산 데이터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12305995" y="4705502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Flow 03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12305995" y="4981651"/>
            <a:ext cx="4534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Financial Flow</a:t>
            </a:r>
            <a:endParaRPr lang="en-US" sz="2200" dirty="0"/>
          </a:p>
        </p:txBody>
      </p:sp>
      <p:pic>
        <p:nvPicPr>
          <p:cNvPr id="41" name="Image 7" descr="gen-dedup-65c6806cc4ed206d2dc3a9747717f36b.png">    </p:cNvPr>
          <p:cNvPicPr>
            <a:picLocks noChangeAspect="1"/>
          </p:cNvPicPr>
          <p:nvPr/>
        </p:nvPicPr>
        <p:blipFill>
          <a:blip r:embed="rId8"/>
          <a:srcRect l="-2078" r="-2078" t="0" b="0"/>
          <a:stretch/>
        </p:blipFill>
        <p:spPr>
          <a:xfrm>
            <a:off x="12305995" y="5400446"/>
            <a:ext cx="4533595" cy="914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2305995" y="5562295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운전자본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매입채무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12305995" y="5862218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매출채권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S&amp;OP 통합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12305995" y="6163056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€25B 수주잔고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Cash Conversion 가시화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12305995" y="6596482"/>
            <a:ext cx="4533595" cy="466344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46" name="Shape 36"/>
          <p:cNvSpPr/>
          <p:nvPr/>
        </p:nvSpPr>
        <p:spPr>
          <a:xfrm>
            <a:off x="12305995" y="6596482"/>
            <a:ext cx="38405" cy="466344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12516307" y="6729070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 효과:</a:t>
            </a:r>
            <a:pPr algn="l" indent="0" marL="0">
              <a:buNone/>
            </a:pPr>
            <a:r>
              <a:rPr lang="en-US" sz="9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단계별 안전재고 중첩 제거, Bullwhip 진폭 축소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7905902" cy="4572000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30207" y="4381805"/>
            <a:ext cx="7715707" cy="45720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875995"/>
            <a:ext cx="37490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3-B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네트워크 및 흐름의 시각화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12 / 30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Strategy Alignment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수평·수직 정렬(Alignment) 검증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전략은 운영·소싱·물류·고객 서비스 전략과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수평·수직으로 정합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되어, 어떤 기능의 국소 최적화도 허용되지 않는다.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447495" y="4610405"/>
            <a:ext cx="7296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수직 정렬 (Vertical)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447495" y="4924044"/>
            <a:ext cx="72969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Corporate → BU → Functional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1447495" y="5505602"/>
            <a:ext cx="7295998" cy="7434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1447495" y="5505602"/>
            <a:ext cx="38405" cy="743407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676095" y="5639105"/>
            <a:ext cx="6877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Corporate Strategy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676095" y="5886907"/>
            <a:ext cx="6877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리더십 · 고객 차별화 · 운영 탁월성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447495" y="6381598"/>
            <a:ext cx="7295998" cy="7434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1447495" y="6381598"/>
            <a:ext cx="38405" cy="743407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676095" y="6515100"/>
            <a:ext cx="6877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Unit Strategy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676095" y="6762902"/>
            <a:ext cx="6877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시장(Data Center · Buildings · Industry · Infrastructure)별 차별화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447495" y="7258507"/>
            <a:ext cx="7295998" cy="7434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1447495" y="7258507"/>
            <a:ext cx="38405" cy="743407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676095" y="7391095"/>
            <a:ext cx="6877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Functional Strategy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676095" y="7638898"/>
            <a:ext cx="6877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공장 · DC · 구매 · CS — 동일 KPI 캐스케이드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1447495" y="8172907"/>
            <a:ext cx="7296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매월 글로벌 S&amp;OP 사이클로 정렬 검증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9734702" y="4610405"/>
            <a:ext cx="710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수평 정렬 (Horizontal)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9734702" y="4924044"/>
            <a:ext cx="71058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기능 간 단일 진실의 원천</a:t>
            </a:r>
            <a:endParaRPr lang="en-US" sz="1900" dirty="0"/>
          </a:p>
        </p:txBody>
      </p:sp>
      <p:sp>
        <p:nvSpPr>
          <p:cNvPr id="32" name="Shape 28"/>
          <p:cNvSpPr/>
          <p:nvPr/>
        </p:nvSpPr>
        <p:spPr>
          <a:xfrm>
            <a:off x="9734702" y="5505602"/>
            <a:ext cx="3486607" cy="714146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3" name="Shape 29"/>
          <p:cNvSpPr/>
          <p:nvPr/>
        </p:nvSpPr>
        <p:spPr>
          <a:xfrm>
            <a:off x="9734702" y="5505602"/>
            <a:ext cx="3486607" cy="28346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887407" y="5667451"/>
            <a:ext cx="3182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Sourcing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9887407" y="5886907"/>
            <a:ext cx="3182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Kraljic Matrix 적용 — 5만 공급사 4분면 분류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13353898" y="5505602"/>
            <a:ext cx="3486607" cy="714146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7" name="Shape 33"/>
          <p:cNvSpPr/>
          <p:nvPr/>
        </p:nvSpPr>
        <p:spPr>
          <a:xfrm>
            <a:off x="13353898" y="5505602"/>
            <a:ext cx="3486607" cy="28346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3506602" y="5667451"/>
            <a:ext cx="3182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3506602" y="5886907"/>
            <a:ext cx="33311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Lean · SMED · Kanban — STP 모델 글로벌 확장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9734702" y="6353251"/>
            <a:ext cx="3486607" cy="714146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41" name="Shape 37"/>
          <p:cNvSpPr/>
          <p:nvPr/>
        </p:nvSpPr>
        <p:spPr>
          <a:xfrm>
            <a:off x="9734702" y="6353251"/>
            <a:ext cx="3486607" cy="28346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9887407" y="6515100"/>
            <a:ext cx="3182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Logistics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9887407" y="6734556"/>
            <a:ext cx="3182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DHL Multi-modal + SAF 친환경 항공유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13353898" y="6353251"/>
            <a:ext cx="3486607" cy="714146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45" name="Shape 41"/>
          <p:cNvSpPr/>
          <p:nvPr/>
        </p:nvSpPr>
        <p:spPr>
          <a:xfrm>
            <a:off x="13353898" y="6353251"/>
            <a:ext cx="3486607" cy="28346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3506602" y="6515100"/>
            <a:ext cx="3182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Customer Service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13506602" y="6734556"/>
            <a:ext cx="3182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NSS 63점 · OTD 98% · 디지털 Poka-Yoke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9734702" y="7276795"/>
            <a:ext cx="7105802" cy="800100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49" name="Shape 45"/>
          <p:cNvSpPr/>
          <p:nvPr/>
        </p:nvSpPr>
        <p:spPr>
          <a:xfrm>
            <a:off x="9734702" y="7276795"/>
            <a:ext cx="38405" cy="800100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963302" y="7429500"/>
            <a:ext cx="6687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결과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9963302" y="7696505"/>
            <a:ext cx="7372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ESG 20% + 평판 50% + 재무 30% — Gartner 종합 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5.81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점은 모든 축이 한 방향으로 작동한 구조적 결과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7905902" cy="4572000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30207" y="4381805"/>
            <a:ext cx="7715707" cy="45720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875995"/>
            <a:ext cx="28794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3-C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계획·운영·물류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13 / 30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Integrated S&amp;OP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Kinaxis Maestro 기반 Concurrent Planning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슈나이더의 S&amp;OP는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Kinaxis Maestro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위에서 영업·생산·재무·R&amp;D가 합의 예측을 동시 산출하는 Concurrent Planning 체계다.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447495" y="4610405"/>
            <a:ext cx="7296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— Sequential MRP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447495" y="4962449"/>
            <a:ext cx="72969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순차 전개의 한계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1447495" y="5591556"/>
            <a:ext cx="7295998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1447495" y="5591556"/>
            <a:ext cx="38405" cy="476402"/>
          </a:xfrm>
          <a:prstGeom prst="rect">
            <a:avLst/>
          </a:prstGeom>
          <a:solidFill>
            <a:srgbClr val="9A2C2C"/>
          </a:solidFill>
          <a:ln w="12700">
            <a:solidFill>
              <a:srgbClr val="9A2C2C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657807" y="5591556"/>
            <a:ext cx="708660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77800" bIns="1143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변동 감지 시 공급·생산·물류 대안 계산에 </a:t>
            </a:r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수일 소요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447495" y="6157570"/>
            <a:ext cx="7295998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1447495" y="6157570"/>
            <a:ext cx="38405" cy="476402"/>
          </a:xfrm>
          <a:prstGeom prst="rect">
            <a:avLst/>
          </a:prstGeom>
          <a:solidFill>
            <a:srgbClr val="9A2C2C"/>
          </a:solidFill>
          <a:ln w="12700">
            <a:solidFill>
              <a:srgbClr val="9A2C2C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657807" y="6157570"/>
            <a:ext cx="708660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77800" bIns="1143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부서별 파편화 데이터 — 영업/생산/재무가 서로 다른 숫자로 회의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447495" y="6724498"/>
            <a:ext cx="7295998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0"/>
          <p:cNvSpPr/>
          <p:nvPr/>
        </p:nvSpPr>
        <p:spPr>
          <a:xfrm>
            <a:off x="1447495" y="6724498"/>
            <a:ext cx="38405" cy="476402"/>
          </a:xfrm>
          <a:prstGeom prst="rect">
            <a:avLst/>
          </a:prstGeom>
          <a:solidFill>
            <a:srgbClr val="9A2C2C"/>
          </a:solidFill>
          <a:ln w="12700">
            <a:solidFill>
              <a:srgbClr val="9A2C2C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657807" y="6724498"/>
            <a:ext cx="708660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77800" bIns="1143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시나리오 시뮬레이션 사실상 불가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1447495" y="7291426"/>
            <a:ext cx="7295998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1447495" y="7291426"/>
            <a:ext cx="38405" cy="476402"/>
          </a:xfrm>
          <a:prstGeom prst="rect">
            <a:avLst/>
          </a:prstGeom>
          <a:solidFill>
            <a:srgbClr val="9A2C2C"/>
          </a:solidFill>
          <a:ln w="12700">
            <a:solidFill>
              <a:srgbClr val="9A2C2C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657807" y="7291426"/>
            <a:ext cx="708660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77800" bIns="1143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오차 누적 → 안전재고 중복 → DIN 상승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9734702" y="4610405"/>
            <a:ext cx="710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— Kinaxis Maestro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734702" y="4962449"/>
            <a:ext cx="71058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Concurrent Planning 체계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9734702" y="5591556"/>
            <a:ext cx="7105802" cy="476402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2" name="Shape 28"/>
          <p:cNvSpPr/>
          <p:nvPr/>
        </p:nvSpPr>
        <p:spPr>
          <a:xfrm>
            <a:off x="9734702" y="5591556"/>
            <a:ext cx="38405" cy="476402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945014" y="5591556"/>
            <a:ext cx="689549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77800" bIns="1143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수요·공급·CAPA·재고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데이터 모델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즉시 동기화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9734702" y="6157570"/>
            <a:ext cx="7105802" cy="476402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5" name="Shape 31"/>
          <p:cNvSpPr/>
          <p:nvPr/>
        </p:nvSpPr>
        <p:spPr>
          <a:xfrm>
            <a:off x="9734702" y="6157570"/>
            <a:ext cx="38405" cy="476402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945014" y="6157570"/>
            <a:ext cx="689549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77800" bIns="1143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합의 예측(Consensus Forecast) —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9734702" y="6724498"/>
            <a:ext cx="7105802" cy="476402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8" name="Shape 34"/>
          <p:cNvSpPr/>
          <p:nvPr/>
        </p:nvSpPr>
        <p:spPr>
          <a:xfrm>
            <a:off x="9734702" y="6724498"/>
            <a:ext cx="38405" cy="476402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945014" y="6724498"/>
            <a:ext cx="689549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77800" bIns="1143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시나리오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시뮬레이션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9734702" y="7291426"/>
            <a:ext cx="7105802" cy="476402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41" name="Shape 37"/>
          <p:cNvSpPr/>
          <p:nvPr/>
        </p:nvSpPr>
        <p:spPr>
          <a:xfrm>
            <a:off x="9734702" y="7291426"/>
            <a:ext cx="38405" cy="476402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9945014" y="7291426"/>
            <a:ext cx="689549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77800" bIns="1143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€25B 수주잔고 무리 없이 소화 — 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가시성 확보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762195"/>
            <a:ext cx="8382305" cy="1619402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6572707"/>
            <a:ext cx="8382305" cy="1619402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810598" y="4381805"/>
            <a:ext cx="7334402" cy="45720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43000" y="4762195"/>
            <a:ext cx="7125005" cy="1619402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43000" y="6572707"/>
            <a:ext cx="1257300" cy="1619402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875995"/>
            <a:ext cx="28794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3-C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계획·운영·물류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14 / 30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Production Planning &amp; Inventory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MTS 85% / MTO 15% 하이브리드와 DIN 압축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모듈은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MTS 85%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로, 최종 조립은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MTO 15%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작동시키는 하이브리드 운영으로 그룹 DIN을 전년비 3영업일+ 압축했다.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4381805"/>
            <a:ext cx="8382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모드 분할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447495" y="5277002"/>
            <a:ext cx="23125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Make-to-Stock (MTS)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7957109" y="4972507"/>
            <a:ext cx="126735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242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85%</a:t>
            </a:r>
            <a:endParaRPr lang="en-US" sz="4800" dirty="0"/>
          </a:p>
        </p:txBody>
      </p:sp>
      <p:sp>
        <p:nvSpPr>
          <p:cNvPr id="21" name="Text 17"/>
          <p:cNvSpPr txBox="1"/>
          <p:nvPr/>
        </p:nvSpPr>
        <p:spPr>
          <a:xfrm>
            <a:off x="1447495" y="5676595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부품·모듈 — 장기 예측 기반 대량 생산 (Push)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2495398" y="7086600"/>
            <a:ext cx="23244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Make-to-Order (MTO)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098841" y="6782105"/>
            <a:ext cx="122438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15%</a:t>
            </a:r>
            <a:endParaRPr lang="en-US" sz="4800" dirty="0"/>
          </a:p>
        </p:txBody>
      </p:sp>
      <p:sp>
        <p:nvSpPr>
          <p:cNvPr id="24" name="Text 20"/>
          <p:cNvSpPr txBox="1"/>
          <p:nvPr/>
        </p:nvSpPr>
        <p:spPr>
          <a:xfrm>
            <a:off x="2495398" y="7487107"/>
            <a:ext cx="6725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사양·고객 맞춤 — 실제 주문 기반 조립 (Pull)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0116007" y="4610405"/>
            <a:ext cx="6725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STP 공장 4공정 흐름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10116007" y="4981651"/>
            <a:ext cx="3133649" cy="676656"/>
          </a:xfrm>
          <a:prstGeom prst="rect">
            <a:avLst/>
          </a:prstGeom>
          <a:solidFill>
            <a:srgbClr val="0F2424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0296144" y="5124298"/>
            <a:ext cx="2772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프레스 스탬핑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0296144" y="5352898"/>
            <a:ext cx="2772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Bottleneck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3382244" y="5181905"/>
            <a:ext cx="191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13706856" y="5081321"/>
            <a:ext cx="3133649" cy="476402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3887907" y="5224882"/>
            <a:ext cx="2772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스팟 용접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10116007" y="5772607"/>
            <a:ext cx="3133649" cy="476402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296144" y="5915254"/>
            <a:ext cx="2772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 도장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3382244" y="5872277"/>
            <a:ext cx="191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13706856" y="5772607"/>
            <a:ext cx="3133649" cy="476402"/>
          </a:xfrm>
          <a:prstGeom prst="rect">
            <a:avLst/>
          </a:prstGeom>
          <a:solidFill>
            <a:srgbClr val="0F2424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3887907" y="5915254"/>
            <a:ext cx="2772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조립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10116007" y="6515100"/>
            <a:ext cx="6724498" cy="1047902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8" name="Shape 34"/>
          <p:cNvSpPr/>
          <p:nvPr/>
        </p:nvSpPr>
        <p:spPr>
          <a:xfrm>
            <a:off x="10116007" y="6515100"/>
            <a:ext cx="38405" cy="1047902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0362895" y="6687007"/>
            <a:ext cx="62682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전략: Chase Strategy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0362895" y="6943954"/>
            <a:ext cx="62682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추종 채택 — 정확한 예측(MAPE 4%대)이 선행 확보되어야 작동 가능. Level Strategy 대비 총 운영비 절감.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10116007" y="7729423"/>
            <a:ext cx="6724498" cy="1171346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10325405" y="7901330"/>
            <a:ext cx="63057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재고 KPI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10325405" y="8139074"/>
            <a:ext cx="6305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42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DIN 전년비 3영업일+ 압축</a:t>
            </a:r>
            <a:endParaRPr lang="en-US" sz="2200" dirty="0"/>
          </a:p>
        </p:txBody>
      </p:sp>
      <p:sp>
        <p:nvSpPr>
          <p:cNvPr id="44" name="Text 40"/>
          <p:cNvSpPr txBox="1"/>
          <p:nvPr/>
        </p:nvSpPr>
        <p:spPr>
          <a:xfrm>
            <a:off x="10325405" y="8539582"/>
            <a:ext cx="6305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운전자본 효율 개선 → Cash Conversion 가속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7524598"/>
            <a:ext cx="7429500" cy="190469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875995"/>
            <a:ext cx="28794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3-C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계획·운영·물류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15 / 30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Logistics &amp; Sustainability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DHL 3PL + SAF 연계 탄소 저감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DHL Global Forwarding과의 3PL 파트너십 + 친환경 항공유(SAF) Multi-modal 운영으로 운송 탄소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40%+ 저감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4381805"/>
            <a:ext cx="74295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spc="-48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40%+</a:t>
            </a:r>
            <a:endParaRPr lang="en-US" sz="120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6038698"/>
            <a:ext cx="7429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SAF(Sustainable Aviation Fuel) 적용 항공 노선의 </a:t>
            </a:r>
            <a:pPr algn="l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CO₂ 평균 저감률</a:t>
            </a:r>
            <a:pPr algn="l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동급 비행 전용 구간 대비. 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447495" y="7733995"/>
            <a:ext cx="6858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STP 내부 물류 혁신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447495" y="8048549"/>
            <a:ext cx="6858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창고 대기 라운드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48시간 내 직송 Cross-docking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447495" y="8417966"/>
            <a:ext cx="6858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입고 → 조립 셀로 자동 이동. 불필요한 지연 요소 제거가 린 운영 철학의 핵심.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953805" y="4381805"/>
            <a:ext cx="8192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Multi-modal 운영의 4단계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953805" y="5620817"/>
            <a:ext cx="8191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953805" y="4962449"/>
            <a:ext cx="476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9639605" y="4962449"/>
            <a:ext cx="75063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모드 선택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639605" y="5248656"/>
            <a:ext cx="7506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항공/해상 이분법 탈피 — 재고·수익성·긴급도 실시간 검토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953805" y="6458407"/>
            <a:ext cx="8191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953805" y="5800954"/>
            <a:ext cx="476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2100" dirty="0"/>
          </a:p>
        </p:txBody>
      </p:sp>
      <p:sp>
        <p:nvSpPr>
          <p:cNvPr id="26" name="Text 22"/>
          <p:cNvSpPr txBox="1"/>
          <p:nvPr/>
        </p:nvSpPr>
        <p:spPr>
          <a:xfrm>
            <a:off x="9639605" y="5800954"/>
            <a:ext cx="75063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DHL Global Forwarding 파트너십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639605" y="6086246"/>
            <a:ext cx="7506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다차원 배송 가교 노선 + 실시간 모드 전환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953805" y="7296912"/>
            <a:ext cx="8191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953805" y="6638544"/>
            <a:ext cx="476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2100" dirty="0"/>
          </a:p>
        </p:txBody>
      </p:sp>
      <p:sp>
        <p:nvSpPr>
          <p:cNvPr id="30" name="Text 26"/>
          <p:cNvSpPr txBox="1"/>
          <p:nvPr/>
        </p:nvSpPr>
        <p:spPr>
          <a:xfrm>
            <a:off x="9639605" y="6638544"/>
            <a:ext cx="75063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 친환경 항공유 적용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639605" y="6924751"/>
            <a:ext cx="7506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이윤 편차를 친환경 노선으로 이관 — 평균 40%+ CO₂ 저감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8953805" y="7477049"/>
            <a:ext cx="476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2100" dirty="0"/>
          </a:p>
        </p:txBody>
      </p:sp>
      <p:sp>
        <p:nvSpPr>
          <p:cNvPr id="33" name="Text 29"/>
          <p:cNvSpPr txBox="1"/>
          <p:nvPr/>
        </p:nvSpPr>
        <p:spPr>
          <a:xfrm>
            <a:off x="9639605" y="7477049"/>
            <a:ext cx="75063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ESG 점수 핵심 기여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9639605" y="7763256"/>
            <a:ext cx="7506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 3 운송 배출 감축 → 가트너 ESG 20% 점수 직접 견인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11ff4e00831ca099d0d9ae2a8f110fd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715207"/>
            <a:ext cx="7925105" cy="3258007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30207" y="3715207"/>
            <a:ext cx="7715707" cy="3238805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7239305"/>
            <a:ext cx="7925105" cy="2210105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430207" y="7239305"/>
            <a:ext cx="7733995" cy="2210105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875995"/>
            <a:ext cx="28794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3-C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공급망 계획·운영·물류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16 / 30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Quality as Differentiator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디지털 Poka-Yoke와 NSS 63 사상 최고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3238805"/>
            <a:ext cx="1600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성과 — Before vs After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447495" y="3943807"/>
            <a:ext cx="7296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중대 결함 리콜 (Major Defect Recalls)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447495" y="4352544"/>
            <a:ext cx="1810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447495" y="4619549"/>
            <a:ext cx="2860243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0" b="1" spc="-39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24</a:t>
            </a:r>
            <a:pPr algn="l" indent="0" marL="0">
              <a:buNone/>
            </a:pPr>
            <a:r>
              <a:rPr lang="en-US" sz="3700" b="1" spc="-390" kern="0" dirty="0">
                <a:solidFill>
                  <a:srgbClr val="9FD9C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건</a:t>
            </a:r>
            <a:endParaRPr lang="en-US" sz="9700" dirty="0"/>
          </a:p>
        </p:txBody>
      </p:sp>
      <p:sp>
        <p:nvSpPr>
          <p:cNvPr id="17" name="Text 14"/>
          <p:cNvSpPr txBox="1"/>
          <p:nvPr/>
        </p:nvSpPr>
        <p:spPr>
          <a:xfrm>
            <a:off x="3542386" y="4690872"/>
            <a:ext cx="571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4500" dirty="0"/>
          </a:p>
        </p:txBody>
      </p:sp>
      <p:sp>
        <p:nvSpPr>
          <p:cNvPr id="18" name="Text 15"/>
          <p:cNvSpPr txBox="1"/>
          <p:nvPr/>
        </p:nvSpPr>
        <p:spPr>
          <a:xfrm>
            <a:off x="4399178" y="4352544"/>
            <a:ext cx="1124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399178" y="4619549"/>
            <a:ext cx="1776679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0" b="1" spc="-39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</a:t>
            </a:r>
            <a:pPr algn="l" indent="0" marL="0">
              <a:buNone/>
            </a:pPr>
            <a:r>
              <a:rPr lang="en-US" sz="3700" b="1" spc="-39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건</a:t>
            </a:r>
            <a:endParaRPr lang="en-US" sz="9700" dirty="0"/>
          </a:p>
        </p:txBody>
      </p:sp>
      <p:sp>
        <p:nvSpPr>
          <p:cNvPr id="20" name="Text 17"/>
          <p:cNvSpPr txBox="1"/>
          <p:nvPr/>
        </p:nvSpPr>
        <p:spPr>
          <a:xfrm>
            <a:off x="1447495" y="5971946"/>
            <a:ext cx="72969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87.5% 감소 — 디지털 Poka-Yoke 적용 효과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734702" y="3943807"/>
            <a:ext cx="710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 Satisfaction Score (NSS)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734702" y="4410151"/>
            <a:ext cx="710580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0" b="1" spc="-720" kern="0" dirty="0">
                <a:solidFill>
                  <a:srgbClr val="0F242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63</a:t>
            </a:r>
            <a:endParaRPr lang="en-US" sz="18000" dirty="0"/>
          </a:p>
        </p:txBody>
      </p:sp>
      <p:sp>
        <p:nvSpPr>
          <p:cNvPr id="23" name="Text 20"/>
          <p:cNvSpPr txBox="1"/>
          <p:nvPr/>
        </p:nvSpPr>
        <p:spPr>
          <a:xfrm>
            <a:off x="9734702" y="6772046"/>
            <a:ext cx="7105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사상 최고 점수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734702" y="7058254"/>
            <a:ext cx="71058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OTD → 고객 유대 중심 KPI로 전력 이동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447495" y="7448702"/>
            <a:ext cx="7296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Poka-Yoke 적용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447495" y="7763256"/>
            <a:ext cx="72969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설계 원안부터 최종 조립까지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다차원 오류 방지 잠금장치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447495" y="8097926"/>
            <a:ext cx="72969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공정 데이터 분석 맵과 통합 — IoT 센서 + 머신러닝 결합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447495" y="8433511"/>
            <a:ext cx="72969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무결점 제조 시스템(Zero-Defect Manufacturing) 달성을 목표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734702" y="7448702"/>
            <a:ext cx="710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TCO 관점에서 본 의미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734702" y="7763256"/>
            <a:ext cx="7105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PL(제조물 책임) 비용</a:t>
            </a:r>
            <a:pPr algn="l" indent="0" marL="0">
              <a:buNone/>
            </a:pPr>
            <a:r>
              <a:rPr lang="en-US" sz="12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평판 리스크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734702" y="8097926"/>
            <a:ext cx="7105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= TCO의 </a:t>
            </a:r>
            <a:pPr algn="l" indent="0" marL="0">
              <a:buNone/>
            </a:pPr>
            <a:r>
              <a:rPr lang="en-US" sz="12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Post-Ownership Costs</a:t>
            </a:r>
            <a:pPr algn="l" indent="0" marL="0">
              <a:buNone/>
            </a:pPr>
            <a:r>
              <a:rPr lang="en-US" sz="12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원천 차단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734702" y="8433511"/>
            <a:ext cx="7105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품질 = 법적 의무가 아닌 </a:t>
            </a:r>
            <a:pPr algn="l" indent="0" marL="0">
              <a:buNone/>
            </a:pPr>
            <a:r>
              <a:rPr lang="en-US" sz="12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차별성의 무기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7905902" cy="5048402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30207" y="4381805"/>
            <a:ext cx="7715707" cy="5048402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17 / 30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Global vs Local Optimization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본사 vs 로컬 공장 목표 상충의 극복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슈나이더는 본사 표준 예측과 로컬 공장 실정 간의 목표 상충을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Kinaxis 데이터 투명성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해소, Local → Global Optimization으로 도약했다.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447495" y="4610405"/>
            <a:ext cx="7296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 이론 (운영관리 교재 1장)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447495" y="4924044"/>
            <a:ext cx="7296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"Global Optimization의 난해성"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1447495" y="5495544"/>
            <a:ext cx="7295998" cy="809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1447495" y="5495544"/>
            <a:ext cx="38405" cy="809244"/>
          </a:xfrm>
          <a:prstGeom prst="rect">
            <a:avLst/>
          </a:prstGeom>
          <a:solidFill>
            <a:srgbClr val="1A3636"/>
          </a:solidFill>
          <a:ln w="12700">
            <a:solidFill>
              <a:srgbClr val="1A3636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695298" y="5648249"/>
            <a:ext cx="6839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SCM 첫 번째 난제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695298" y="5915254"/>
            <a:ext cx="68397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공급망은 매우 복잡하고 dynamic하며 구성원 간 권력 구조가 변화 —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상충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본질적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447495" y="6437376"/>
            <a:ext cx="7295998" cy="104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1447495" y="6437376"/>
            <a:ext cx="38405" cy="1047902"/>
          </a:xfrm>
          <a:prstGeom prst="rect">
            <a:avLst/>
          </a:prstGeom>
          <a:solidFill>
            <a:srgbClr val="1A3636"/>
          </a:solidFill>
          <a:ln w="12700">
            <a:solidFill>
              <a:srgbClr val="1A3636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695298" y="6589166"/>
            <a:ext cx="6839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상충의 전형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695298" y="6856171"/>
            <a:ext cx="68397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제조업체: 낮은 재고·운송비 절감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구매기업: 짧은 LT·다양한 품목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447495" y="7614209"/>
            <a:ext cx="7295998" cy="809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1447495" y="7614209"/>
            <a:ext cx="38405" cy="809244"/>
          </a:xfrm>
          <a:prstGeom prst="rect">
            <a:avLst/>
          </a:prstGeom>
          <a:solidFill>
            <a:srgbClr val="1A3636"/>
          </a:solidFill>
          <a:ln w="12700">
            <a:solidFill>
              <a:srgbClr val="1A3636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695298" y="7766914"/>
            <a:ext cx="6839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695298" y="8033004"/>
            <a:ext cx="68397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주체가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Optimization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추구 → 전체 시스템 비효율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9734702" y="4610405"/>
            <a:ext cx="710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슈나이더의 극복 메커니즘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734702" y="4924044"/>
            <a:ext cx="71058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데이터 투명성으로 해결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9734702" y="6038698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734702" y="5629046"/>
            <a:ext cx="476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충돌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0382098" y="5629046"/>
            <a:ext cx="6458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본사가 선형회귀로 6개월 일률 예측을 하향 전달, 로컬 공장은 보정 권한 없이 </a:t>
            </a:r>
            <a:pPr algn="l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MAPE 20%+ 감내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9734702" y="6591910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734702" y="6181344"/>
            <a:ext cx="476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해결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10382098" y="6181344"/>
            <a:ext cx="6458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Kinaxis Maestro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데이터 + 로컬 공장 자체 예측 모델 허용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9734702" y="7144207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734702" y="6734556"/>
            <a:ext cx="609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투명성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10431475" y="6734556"/>
            <a:ext cx="64108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본사·로컬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양방향 가시성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확보 — Incentive Obstacle 제거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9734702" y="7286854"/>
            <a:ext cx="476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성과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10382098" y="7286854"/>
            <a:ext cx="6458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전체 총비용 최소화 — 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Optimization 달성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04695" y="4381805"/>
            <a:ext cx="7429500" cy="2381098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5305" y="4381805"/>
            <a:ext cx="7619695" cy="2381098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4695" y="6953098"/>
            <a:ext cx="7429500" cy="2381098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25305" y="6953098"/>
            <a:ext cx="7619695" cy="2381098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pic>
        <p:nvPicPr>
          <p:cNvPr id="11" name="Image 2" descr="gen-dedup-c90272d3d93d3a7b0957233b7d74027d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904695" y="4381805"/>
            <a:ext cx="7429500" cy="57607"/>
          </a:xfrm>
          <a:prstGeom prst="rect">
            <a:avLst/>
          </a:prstGeom>
        </p:spPr>
      </p:pic>
      <p:pic>
        <p:nvPicPr>
          <p:cNvPr id="12" name="Image 3" descr="gen-dedup-ccb9f888d1bb8ba448c6ae348551c1b1.png">    </p:cNvPr>
          <p:cNvPicPr>
            <a:picLocks noChangeAspect="1"/>
          </p:cNvPicPr>
          <p:nvPr/>
        </p:nvPicPr>
        <p:blipFill>
          <a:blip r:embed="rId4"/>
          <a:srcRect l="0" r="0" t="-402" b="-402"/>
          <a:stretch/>
        </p:blipFill>
        <p:spPr>
          <a:xfrm>
            <a:off x="9525305" y="4381805"/>
            <a:ext cx="7619695" cy="57607"/>
          </a:xfrm>
          <a:prstGeom prst="rect">
            <a:avLst/>
          </a:prstGeom>
        </p:spPr>
      </p:pic>
      <p:pic>
        <p:nvPicPr>
          <p:cNvPr id="13" name="Image 4" descr="gen-dedup-7bcb04d79067cdaa6d8d7f8e06073511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1904695" y="6953098"/>
            <a:ext cx="7429500" cy="57607"/>
          </a:xfrm>
          <a:prstGeom prst="rect">
            <a:avLst/>
          </a:prstGeom>
        </p:spPr>
      </p:pic>
      <p:pic>
        <p:nvPicPr>
          <p:cNvPr id="14" name="Image 5" descr="gen-dedup-582df54c68c641e3b83333302a43fc19.png">    </p:cNvPr>
          <p:cNvPicPr>
            <a:picLocks noChangeAspect="1"/>
          </p:cNvPicPr>
          <p:nvPr/>
        </p:nvPicPr>
        <p:blipFill>
          <a:blip r:embed="rId6"/>
          <a:srcRect l="0" r="0" t="-402" b="-402"/>
          <a:stretch/>
        </p:blipFill>
        <p:spPr>
          <a:xfrm>
            <a:off x="9525305" y="6953098"/>
            <a:ext cx="7619695" cy="57607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16" name="Text 8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18 / 30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Kraljic Supply Matrix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5만 공급사의 4분면 분류</a:t>
            </a:r>
            <a:endParaRPr lang="en-US" sz="4000" dirty="0"/>
          </a:p>
        </p:txBody>
      </p:sp>
      <p:sp>
        <p:nvSpPr>
          <p:cNvPr id="19" name="Text 11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1524305" y="3590849"/>
            <a:ext cx="161163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슈나이더는 Kraljic 매트릭스에 따라 5만 공급사를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· Leverage · Bottleneck · Non-critical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4분면으로 분류, 분면별 차별화된 조달 전략을 운영한다.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 rot="16200000">
            <a:off x="275234" y="5905195"/>
            <a:ext cx="279989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이익 영향도 (Profit Impact) →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2210105" y="4610405"/>
            <a:ext cx="205557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LEVERAGE Items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8009230" y="4686300"/>
            <a:ext cx="122803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저위험 · 고이익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2210105" y="5286146"/>
            <a:ext cx="682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공급사 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입찰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구매력 극대화로 단가 최소화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2210105" y="5572354"/>
            <a:ext cx="682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 적용: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Coupa 입찰 자동화 + Volume Discount 협상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2210105" y="5009998"/>
            <a:ext cx="3977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품목: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2519172" y="5009998"/>
            <a:ext cx="30367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금속·구리·플라스틱 등 표준화 원자재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9829800" y="4610405"/>
            <a:ext cx="220187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STRATEGIC Items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15820034" y="4686300"/>
            <a:ext cx="122803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 · 고이익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9829800" y="5286146"/>
            <a:ext cx="7010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전략: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파트너십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·공동 R&amp;D·공동 자산 투자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9829800" y="5572354"/>
            <a:ext cx="7010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 적용: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Tier-1 공급사와 Joint Innovation Lab 운영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9829800" y="5009998"/>
            <a:ext cx="3977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품목: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10139782" y="5009998"/>
            <a:ext cx="3140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NVIDIA 등 핵심 칩셋·전력반도체·특수 모듈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2210105" y="7181698"/>
            <a:ext cx="264078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NON-CRITICAL Items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8009230" y="7258507"/>
            <a:ext cx="122803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저위험 · 저이익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2210105" y="7858354"/>
            <a:ext cx="682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시스템 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자동화·단순화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행정비용 최소화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2210105" y="8143646"/>
            <a:ext cx="682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 적용: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Coupa 자동 발주·결재 — 결재선 폐지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2210105" y="7582205"/>
            <a:ext cx="3977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품목: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2519172" y="7582205"/>
            <a:ext cx="18854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MRO·소모품·일반 사무용품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9829800" y="7181698"/>
            <a:ext cx="235183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BOTTLENECK Items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15820034" y="7258507"/>
            <a:ext cx="122803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 · 저이익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9829800" y="7858354"/>
            <a:ext cx="7010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장기 계약·안전재고·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Dual Sourcing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공급 연속성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9829800" y="8143646"/>
            <a:ext cx="7010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 적용: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부품 2개사+ 확보, 가격 프리미엄 감수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9829800" y="7582205"/>
            <a:ext cx="3977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품목:</a:t>
            </a:r>
            <a:endParaRPr lang="en-US" sz="1100" dirty="0"/>
          </a:p>
        </p:txBody>
      </p:sp>
      <p:sp>
        <p:nvSpPr>
          <p:cNvPr id="45" name="Text 37"/>
          <p:cNvSpPr txBox="1"/>
          <p:nvPr/>
        </p:nvSpPr>
        <p:spPr>
          <a:xfrm>
            <a:off x="10139782" y="7582205"/>
            <a:ext cx="19879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희귀 부품·독점적 특수 모듈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1904695" y="9430207"/>
            <a:ext cx="15240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15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 위험 (Supply Risk) →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762195"/>
            <a:ext cx="7505395" cy="1333195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4762195"/>
            <a:ext cx="75895" cy="1333195"/>
          </a:xfrm>
          <a:prstGeom prst="rect">
            <a:avLst/>
          </a:prstGeom>
          <a:solidFill>
            <a:srgbClr val="9FD9C2"/>
          </a:solidFill>
          <a:ln w="12700">
            <a:solidFill>
              <a:srgbClr val="9FD9C2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6286500"/>
            <a:ext cx="7505395" cy="1333195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6286500"/>
            <a:ext cx="75895" cy="1333195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43000" y="7810805"/>
            <a:ext cx="7505395" cy="1619402"/>
          </a:xfrm>
          <a:prstGeom prst="rect">
            <a:avLst/>
          </a:prstGeom>
          <a:solidFill>
            <a:srgbClr val="1A3636"/>
          </a:solidFill>
          <a:ln/>
        </p:spPr>
      </p:sp>
      <p:sp>
        <p:nvSpPr>
          <p:cNvPr id="11" name="Shape 8"/>
          <p:cNvSpPr/>
          <p:nvPr/>
        </p:nvSpPr>
        <p:spPr>
          <a:xfrm>
            <a:off x="1143000" y="7810805"/>
            <a:ext cx="75895" cy="161940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53805" y="4381805"/>
            <a:ext cx="8248802" cy="2523744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3" name="Shape 10"/>
          <p:cNvSpPr/>
          <p:nvPr/>
        </p:nvSpPr>
        <p:spPr>
          <a:xfrm>
            <a:off x="8953805" y="4381805"/>
            <a:ext cx="57607" cy="2523744"/>
          </a:xfrm>
          <a:prstGeom prst="rect">
            <a:avLst/>
          </a:prstGeom>
          <a:solidFill>
            <a:srgbClr val="9A2C2C"/>
          </a:solidFill>
          <a:ln w="12700">
            <a:solidFill>
              <a:srgbClr val="9A2C2C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53805" y="7095744"/>
            <a:ext cx="8191195" cy="2333549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19 / 30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Total Cost of Ownership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Near-shoring으로 Post-Ownership Cost 방어</a:t>
            </a:r>
            <a:endParaRPr lang="en-US" sz="4000" dirty="0"/>
          </a:p>
        </p:txBody>
      </p:sp>
      <p:sp>
        <p:nvSpPr>
          <p:cNvPr id="20" name="Text 16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524305" y="3590849"/>
            <a:ext cx="1580906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단가가 아닌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Acquisition + Ownership + Post-Ownership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합산한 TCO 관점으로 아시아 오프쇼어링을 탈피하고 Near-shoring을 강화했다.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1143000" y="4381805"/>
            <a:ext cx="7429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TCO의 3대 구성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447495" y="4953305"/>
            <a:ext cx="6820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01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447495" y="5191049"/>
            <a:ext cx="68205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Acquisition Costs (획득 비용)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447495" y="5581498"/>
            <a:ext cx="6820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원자재 구매가 · 관세 · 수수료 · 운송비 · 초기 검사비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447495" y="6476695"/>
            <a:ext cx="6820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02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447495" y="6715354"/>
            <a:ext cx="68205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Ownership Costs (소유 비용)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1447495" y="7105802"/>
            <a:ext cx="6820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창고 보관·취급비 · 재고 유지 비용 · 사이클타임 영향 비용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447495" y="8001000"/>
            <a:ext cx="6820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03 — 빙산의 본체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447495" y="8238744"/>
            <a:ext cx="68205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Post-Ownership Costs (소유 후 비용)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1447495" y="8630107"/>
            <a:ext cx="6820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워런티 ·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PL(제조물 책임)</a:t>
            </a:r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리콜 · 폐기 ·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평판 저하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9258300" y="4610405"/>
            <a:ext cx="7582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경고 사례 — Mattel (2007)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9258300" y="4924044"/>
            <a:ext cx="75822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중국산 완구 납 페인트 리콜</a:t>
            </a:r>
            <a:endParaRPr lang="en-US" sz="1900" dirty="0"/>
          </a:p>
        </p:txBody>
      </p:sp>
      <p:sp>
        <p:nvSpPr>
          <p:cNvPr id="34" name="Text 30"/>
          <p:cNvSpPr txBox="1"/>
          <p:nvPr/>
        </p:nvSpPr>
        <p:spPr>
          <a:xfrm>
            <a:off x="9258300" y="5379415"/>
            <a:ext cx="7582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pPr algn="l" indent="0" marL="0">
              <a:buNone/>
            </a:pPr>
            <a:r>
              <a:rPr lang="en-US" sz="1200" b="1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$30M 리콜 비용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획득비 절감액의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수십 배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손해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9258300" y="5680253"/>
            <a:ext cx="7582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환산 불가능한 </a:t>
            </a:r>
            <a:pPr algn="l" indent="0" marL="0">
              <a:buNone/>
            </a:pPr>
            <a:r>
              <a:rPr lang="en-US" sz="1200" b="1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평판 타격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9258300" y="5982005"/>
            <a:ext cx="7582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TCO 관점 결여 = 전형적 Local Optimization 실패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9258300" y="7324344"/>
            <a:ext cx="7582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슈나이더의 선택 + ZARA 벤치마크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9258300" y="7638898"/>
            <a:ext cx="75822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242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아시아 오프쇼어링 탈피 → Near-shoring</a:t>
            </a:r>
            <a:endParaRPr lang="en-US" sz="1900" dirty="0"/>
          </a:p>
        </p:txBody>
      </p:sp>
      <p:sp>
        <p:nvSpPr>
          <p:cNvPr id="39" name="Text 35"/>
          <p:cNvSpPr txBox="1"/>
          <p:nvPr/>
        </p:nvSpPr>
        <p:spPr>
          <a:xfrm>
            <a:off x="9258300" y="8094269"/>
            <a:ext cx="7582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멕시코 STP · 동유럽 거점 — 리드타임 단축 + 품질 통제력 확보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9258300" y="8395106"/>
            <a:ext cx="7582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ZARA 벤치마크: 유럽 근해 소싱으로 재고비·할인 처분비 절감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9258300" y="8695944"/>
            <a:ext cx="7582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초기 단가는 높지만 </a:t>
            </a:r>
            <a:pPr algn="l" indent="0" marL="0">
              <a:buNone/>
            </a:pPr>
            <a:r>
              <a:rPr lang="en-US" sz="12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TCO는 낮음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762195"/>
            <a:ext cx="5201107" cy="1904695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4762195"/>
            <a:ext cx="57607" cy="1904695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72707" y="4762195"/>
            <a:ext cx="5201107" cy="1904695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9" name="Shape 6"/>
          <p:cNvSpPr/>
          <p:nvPr/>
        </p:nvSpPr>
        <p:spPr>
          <a:xfrm>
            <a:off x="6572707" y="4762195"/>
            <a:ext cx="57607" cy="1904695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01500" y="4762195"/>
            <a:ext cx="5201107" cy="1904695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1" name="Shape 8"/>
          <p:cNvSpPr/>
          <p:nvPr/>
        </p:nvSpPr>
        <p:spPr>
          <a:xfrm>
            <a:off x="12001500" y="4762195"/>
            <a:ext cx="57607" cy="1904695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6953098"/>
            <a:ext cx="16002000" cy="247619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20 / 30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The Bullwhip Effect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STP 개선 전 — 채찍효과의 교과서적 사례</a:t>
            </a:r>
            <a:endParaRPr lang="en-US" sz="4000" dirty="0"/>
          </a:p>
        </p:txBody>
      </p:sp>
      <p:sp>
        <p:nvSpPr>
          <p:cNvPr id="18" name="Text 14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MAPE 20%+ 예측 오차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BOM 상류로 갈수록 증폭되어 안전재고 중복과 라인 정지로 직결된 채찍효과의 교과서적 사례.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4381805"/>
            <a:ext cx="1600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채찍효과 5대 원인 — STP에 작용한 항목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447495" y="4953305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Cause 01 · STP에 작용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447495" y="5210251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Information Processing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447495" y="5553151"/>
            <a:ext cx="45345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하류 POS 미공유 · 본사 단순 선형회귀 — 단계별 안전재고 중첩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6877202" y="4953305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Cause 02 · STP에 작용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6877202" y="5210251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6877202" y="5553151"/>
            <a:ext cx="45345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 배치 주문 · 주문 고정비 K 절감 시도 — 변동성 증폭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2305995" y="4953305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Cause 03 · STP에 작용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2305995" y="5210251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Behavioral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2305995" y="5553151"/>
            <a:ext cx="45345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의사결정의 시스템 파장 미이해 — 보수적 과잉 반응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447495" y="7181698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STP 개선 전 — 결과적 증상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1447495" y="7591349"/>
            <a:ext cx="4990795" cy="972007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2" name="Shape 28"/>
          <p:cNvSpPr/>
          <p:nvPr/>
        </p:nvSpPr>
        <p:spPr>
          <a:xfrm>
            <a:off x="1447495" y="7591349"/>
            <a:ext cx="38405" cy="972007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695298" y="7763256"/>
            <a:ext cx="45345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MAPE </a:t>
            </a:r>
            <a:pPr algn="l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20%+</a:t>
            </a:r>
            <a:endParaRPr lang="en-US" sz="2800" dirty="0"/>
          </a:p>
        </p:txBody>
      </p:sp>
      <p:sp>
        <p:nvSpPr>
          <p:cNvPr id="34" name="Text 30"/>
          <p:cNvSpPr txBox="1"/>
          <p:nvPr/>
        </p:nvSpPr>
        <p:spPr>
          <a:xfrm>
            <a:off x="1695298" y="8201254"/>
            <a:ext cx="5257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오차 — 본사가 단순 선형회귀로 6개월 일률 예측 하달, 공장 자체 보정 권한 부재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667805" y="7591349"/>
            <a:ext cx="4990795" cy="972007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6" name="Shape 32"/>
          <p:cNvSpPr/>
          <p:nvPr/>
        </p:nvSpPr>
        <p:spPr>
          <a:xfrm>
            <a:off x="6667805" y="7591349"/>
            <a:ext cx="38405" cy="972007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915607" y="7763256"/>
            <a:ext cx="45345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10일+ </a:t>
            </a:r>
            <a:pPr algn="l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초과</a:t>
            </a:r>
            <a:endParaRPr lang="en-US" sz="2800" dirty="0"/>
          </a:p>
        </p:txBody>
      </p:sp>
      <p:sp>
        <p:nvSpPr>
          <p:cNvPr id="38" name="Text 34"/>
          <p:cNvSpPr txBox="1"/>
          <p:nvPr/>
        </p:nvSpPr>
        <p:spPr>
          <a:xfrm>
            <a:off x="6915607" y="8201254"/>
            <a:ext cx="4534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스탬핑 부품 안전재고 보유 — 불안감으로 인한 과잉 비축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11887200" y="7591349"/>
            <a:ext cx="4990795" cy="972007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40" name="Shape 36"/>
          <p:cNvSpPr/>
          <p:nvPr/>
        </p:nvSpPr>
        <p:spPr>
          <a:xfrm>
            <a:off x="11887200" y="7591349"/>
            <a:ext cx="38405" cy="972007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2135002" y="7763256"/>
            <a:ext cx="45345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Bottleneck</a:t>
            </a:r>
            <a:endParaRPr lang="en-US" sz="2800" dirty="0"/>
          </a:p>
        </p:txBody>
      </p:sp>
      <p:sp>
        <p:nvSpPr>
          <p:cNvPr id="42" name="Text 38"/>
          <p:cNvSpPr txBox="1"/>
          <p:nvPr/>
        </p:nvSpPr>
        <p:spPr>
          <a:xfrm>
            <a:off x="12135002" y="8201254"/>
            <a:ext cx="4534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프레스 스탬핑 공정의 상습적 공급 충격 → 라인 가동 지연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7524598"/>
            <a:ext cx="7429500" cy="1904695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53805" y="4381805"/>
            <a:ext cx="8191195" cy="5048402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21 / 30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STP Forecasting Innovation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추세조정 이중 지수평활법의 자율 도입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STP는 본사의 선형회귀 한계를 깨고 추세조정 이중 지수평활법을 자체 도입,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MAPE 23% → 4%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축소했다.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5219395"/>
            <a:ext cx="3134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5486400"/>
            <a:ext cx="3134563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0" b="1" spc="-510" kern="0" dirty="0">
                <a:solidFill>
                  <a:srgbClr val="9A9A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23%</a:t>
            </a:r>
            <a:endParaRPr lang="en-US" sz="127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7105802"/>
            <a:ext cx="3134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선형회귀 22% 수준 동등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555541" y="4381805"/>
            <a:ext cx="857707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6700" dirty="0"/>
          </a:p>
        </p:txBody>
      </p:sp>
      <p:sp>
        <p:nvSpPr>
          <p:cNvPr id="19" name="Text 15"/>
          <p:cNvSpPr txBox="1"/>
          <p:nvPr/>
        </p:nvSpPr>
        <p:spPr>
          <a:xfrm>
            <a:off x="5698541" y="5219395"/>
            <a:ext cx="2257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698541" y="5486400"/>
            <a:ext cx="2257654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0" b="1" spc="-51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4%</a:t>
            </a:r>
            <a:endParaRPr lang="en-US" sz="12700" dirty="0"/>
          </a:p>
        </p:txBody>
      </p:sp>
      <p:sp>
        <p:nvSpPr>
          <p:cNvPr id="21" name="Text 17"/>
          <p:cNvSpPr txBox="1"/>
          <p:nvPr/>
        </p:nvSpPr>
        <p:spPr>
          <a:xfrm>
            <a:off x="5698541" y="7105802"/>
            <a:ext cx="2257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MAPE 19%p 감소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447495" y="7733995"/>
            <a:ext cx="6858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의의 — Information Processing Obstacle 해소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447495" y="8029346"/>
            <a:ext cx="6858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채찍효과 진폭 원천 축소 → 상류 안전재고 중복 제거 → DIN 압축의 출발점. </a:t>
            </a:r>
            <a:pPr algn="l" indent="0" marL="0">
              <a:buNone/>
            </a:pPr>
            <a:r>
              <a:rPr lang="en-US" sz="12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"정확한 예측 위에서만 EOQ와 Kanban이 작동한다"</a:t>
            </a:r>
            <a:pPr algn="l" indent="0" marL="0">
              <a:buNone/>
            </a:pPr>
            <a:r>
              <a:rPr lang="en-US" sz="12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정량 입증. 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9258300" y="4610405"/>
            <a:ext cx="7582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디테일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9258300" y="4924044"/>
            <a:ext cx="75822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Holt's Method 변형 + 계절 편차 지수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9258300" y="5992063"/>
            <a:ext cx="7582205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258300" y="5609844"/>
            <a:ext cx="762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모델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0191902" y="5609844"/>
            <a:ext cx="66486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추세조정 이중 지수평활(Double Exponential Smoothing with Trend Adjustment)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9258300" y="6516014"/>
            <a:ext cx="7582205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258300" y="6133795"/>
            <a:ext cx="762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집계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10191902" y="6133795"/>
            <a:ext cx="66486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단위 →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단위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완화 → 무작위 변동 자연 상쇄(평활화 원리)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9258300" y="7039051"/>
            <a:ext cx="7582205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258300" y="6657746"/>
            <a:ext cx="762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보정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10191902" y="6657746"/>
            <a:ext cx="66486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평활 상수 보정 + 계절 편차 지수 곱셈 → 선행 지연 현상 보완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9258300" y="7181698"/>
            <a:ext cx="762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비교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10191902" y="7181698"/>
            <a:ext cx="66486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선형회귀 22% — 고정 매개변수가 현실 수요 변동에 탄력적 반응 불가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9258300" y="7733995"/>
            <a:ext cx="7582205" cy="828446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8" name="Shape 34"/>
          <p:cNvSpPr/>
          <p:nvPr/>
        </p:nvSpPr>
        <p:spPr>
          <a:xfrm>
            <a:off x="9258300" y="7733995"/>
            <a:ext cx="38405" cy="828446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506102" y="7905902"/>
            <a:ext cx="7125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조직적 의의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9506102" y="8162849"/>
            <a:ext cx="7125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일선의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Bottom-up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자체 개선 — 가트너 1위 차별화 동력의 미시 사례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7905902" cy="5048402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22 / 30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Economic Order Quantity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CV 19% 미만 부품의 Lot Size 500개 최적화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STP는 가공 부품의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변동계수 CV &lt; 19%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안정성을 검증한 후 고전 EOQ 모델로 Lot Size를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500개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단일화했다.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447495" y="4610405"/>
            <a:ext cx="7296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EOQ 공식 — Wilson Lot Size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447495" y="5171846"/>
            <a:ext cx="72969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EOQ = √</a:t>
            </a:r>
            <a:pPr algn="ctr" indent="0" marL="0">
              <a:buNone/>
            </a:pPr>
            <a:r>
              <a:rPr lang="en-US" sz="90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2DK/h</a:t>
            </a:r>
            <a:endParaRPr lang="en-US" sz="9000" dirty="0"/>
          </a:p>
        </p:txBody>
      </p:sp>
      <p:sp>
        <p:nvSpPr>
          <p:cNvPr id="16" name="Shape 12"/>
          <p:cNvSpPr/>
          <p:nvPr/>
        </p:nvSpPr>
        <p:spPr>
          <a:xfrm>
            <a:off x="1447495" y="8373161"/>
            <a:ext cx="7295998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447495" y="8029346"/>
            <a:ext cx="476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2095805" y="8029346"/>
            <a:ext cx="66486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수요량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분기 분해된 합의 예측치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447495" y="8821217"/>
            <a:ext cx="7295998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47495" y="8477402"/>
            <a:ext cx="476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2095805" y="8477402"/>
            <a:ext cx="66486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 비용 (Setup Cost)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금형 교체비 + 라인 정지 손실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447495" y="8924544"/>
            <a:ext cx="476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2095805" y="8924544"/>
            <a:ext cx="66486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단위당 연간 보유 비용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자본 비용 + 창고 + 진부화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9430207" y="4381805"/>
            <a:ext cx="7715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STP 공장 적용 절차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0207" y="5582412"/>
            <a:ext cx="7715707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430207" y="4943246"/>
            <a:ext cx="476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10116007" y="4943246"/>
            <a:ext cx="7029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변동계수 CV 측정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0116007" y="5229454"/>
            <a:ext cx="7029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스탬핑 부품 CV &lt; </a:t>
            </a:r>
            <a:pPr algn="l" indent="0" marL="0">
              <a:buNone/>
            </a:pPr>
            <a:r>
              <a:rPr lang="en-US" sz="10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19%</a:t>
            </a:r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EOQ의 "안정적 수요" 가정에 통계적으로 부합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9430207" y="6382512"/>
            <a:ext cx="7715707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430207" y="5743346"/>
            <a:ext cx="476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10116007" y="5743346"/>
            <a:ext cx="7029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EOQ 산출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10116007" y="6029554"/>
            <a:ext cx="7029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D, K, h 정량화 후 공식 적용 — 최적 Lot Size </a:t>
            </a:r>
            <a:pPr algn="l" indent="0" marL="0">
              <a:buNone/>
            </a:pPr>
            <a:r>
              <a:rPr lang="en-US" sz="10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500개</a:t>
            </a:r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도출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9430207" y="7182612"/>
            <a:ext cx="7715707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430207" y="6543446"/>
            <a:ext cx="476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10116007" y="6543446"/>
            <a:ext cx="7029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Lot Size 단일화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10116007" y="6829654"/>
            <a:ext cx="7029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사양별 어지러운 배치 → </a:t>
            </a:r>
            <a:pPr algn="l" indent="0" marL="0">
              <a:buNone/>
            </a:pPr>
            <a:r>
              <a:rPr lang="en-US" sz="10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500개 단위 일정 정돈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9430207" y="7343546"/>
            <a:ext cx="476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2200" dirty="0"/>
          </a:p>
        </p:txBody>
      </p:sp>
      <p:sp>
        <p:nvSpPr>
          <p:cNvPr id="38" name="Text 34"/>
          <p:cNvSpPr txBox="1"/>
          <p:nvPr/>
        </p:nvSpPr>
        <p:spPr>
          <a:xfrm>
            <a:off x="10116007" y="7343546"/>
            <a:ext cx="7029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간 1:1 흐름 동기화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10116007" y="7629754"/>
            <a:ext cx="7029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Kanban 시스템 적용의 </a:t>
            </a:r>
            <a:pPr algn="l" indent="0" marL="0">
              <a:buNone/>
            </a:pPr>
            <a:r>
              <a:rPr lang="en-US" sz="10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전제 조건 확보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9430207" y="8153705"/>
            <a:ext cx="7715707" cy="562356"/>
          </a:xfrm>
          <a:prstGeom prst="rect">
            <a:avLst/>
          </a:prstGeom>
          <a:solidFill>
            <a:srgbClr val="1A3636"/>
          </a:solidFill>
          <a:ln/>
        </p:spPr>
      </p:sp>
      <p:sp>
        <p:nvSpPr>
          <p:cNvPr id="41" name="Shape 37"/>
          <p:cNvSpPr/>
          <p:nvPr/>
        </p:nvSpPr>
        <p:spPr>
          <a:xfrm>
            <a:off x="9430207" y="8153705"/>
            <a:ext cx="38405" cy="562356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9677095" y="8324698"/>
            <a:ext cx="79443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이론과 실무의 정렬: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1913년 Wilson 공식이 2025년 STP 공장에서 살아 작동 —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예측 + 안정적 CV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EOQ를 가능케 한다. 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11ff4e00831ca099d0d9ae2a8f110fd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715207"/>
            <a:ext cx="5162702" cy="2686507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72707" y="3715207"/>
            <a:ext cx="5162702" cy="2686507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01500" y="3715207"/>
            <a:ext cx="5143500" cy="2667305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6667805"/>
            <a:ext cx="7925105" cy="2781605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30207" y="6667805"/>
            <a:ext cx="7733995" cy="2781605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23 / 30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Pull-based Kanban System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칸반 카드 49장 → 24장, 자산 77.65% 감소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3238805"/>
            <a:ext cx="1600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STP Kanban 최적화 정량 성과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447495" y="3943807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칸반 카드 수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447495" y="4686300"/>
            <a:ext cx="1095451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00" b="1" dirty="0">
                <a:solidFill>
                  <a:srgbClr val="9A9A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49</a:t>
            </a:r>
            <a:endParaRPr lang="en-US" sz="6700" dirty="0"/>
          </a:p>
        </p:txBody>
      </p:sp>
      <p:sp>
        <p:nvSpPr>
          <p:cNvPr id="17" name="Text 14"/>
          <p:cNvSpPr txBox="1"/>
          <p:nvPr/>
        </p:nvSpPr>
        <p:spPr>
          <a:xfrm>
            <a:off x="2712110" y="4867351"/>
            <a:ext cx="4764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3700" dirty="0"/>
          </a:p>
        </p:txBody>
      </p:sp>
      <p:sp>
        <p:nvSpPr>
          <p:cNvPr id="18" name="Text 15"/>
          <p:cNvSpPr txBox="1"/>
          <p:nvPr/>
        </p:nvSpPr>
        <p:spPr>
          <a:xfrm>
            <a:off x="3359506" y="4352544"/>
            <a:ext cx="1657807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24</a:t>
            </a:r>
            <a:endParaRPr lang="en-US" sz="9700" dirty="0"/>
          </a:p>
        </p:txBody>
      </p:sp>
      <p:sp>
        <p:nvSpPr>
          <p:cNvPr id="19" name="Text 16"/>
          <p:cNvSpPr txBox="1"/>
          <p:nvPr/>
        </p:nvSpPr>
        <p:spPr>
          <a:xfrm>
            <a:off x="1447495" y="5724144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51% 압축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877202" y="3943807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유휴 부품 자산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877202" y="4352544"/>
            <a:ext cx="4534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9A9A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$21,851</a:t>
            </a:r>
            <a:endParaRPr lang="en-US" sz="2700" dirty="0"/>
          </a:p>
        </p:txBody>
      </p:sp>
      <p:sp>
        <p:nvSpPr>
          <p:cNvPr id="22" name="Text 19"/>
          <p:cNvSpPr txBox="1"/>
          <p:nvPr/>
        </p:nvSpPr>
        <p:spPr>
          <a:xfrm>
            <a:off x="6877202" y="4753051"/>
            <a:ext cx="4534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↓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877202" y="5152644"/>
            <a:ext cx="45345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$4,883</a:t>
            </a:r>
            <a:endParaRPr lang="en-US" sz="4500" dirty="0"/>
          </a:p>
        </p:txBody>
      </p:sp>
      <p:sp>
        <p:nvSpPr>
          <p:cNvPr id="24" name="Text 21"/>
          <p:cNvSpPr txBox="1"/>
          <p:nvPr/>
        </p:nvSpPr>
        <p:spPr>
          <a:xfrm>
            <a:off x="6877202" y="5857646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77.65% 절감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2305995" y="3943807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2305995" y="4352544"/>
            <a:ext cx="45345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42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Pull Strategy의 정수</a:t>
            </a:r>
            <a:endParaRPr lang="en-US" sz="2700" dirty="0"/>
          </a:p>
        </p:txBody>
      </p:sp>
      <p:sp>
        <p:nvSpPr>
          <p:cNvPr id="27" name="Text 24"/>
          <p:cNvSpPr txBox="1"/>
          <p:nvPr/>
        </p:nvSpPr>
        <p:spPr>
          <a:xfrm>
            <a:off x="12305995" y="4897526"/>
            <a:ext cx="45345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소비량만큼만 상류로 신호 전달 — 단계별 안전재고 중첩 제거. 채찍효과 진폭 축소의 직접 효과.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447495" y="6896405"/>
            <a:ext cx="7296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칸반 카드 수 산출 공식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447495" y="7381951"/>
            <a:ext cx="72969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N = (D × L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</a:t>
            </a:r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+ SS) / EOQ </a:t>
            </a:r>
            <a:endParaRPr lang="en-US" sz="3600" dirty="0"/>
          </a:p>
        </p:txBody>
      </p:sp>
      <p:sp>
        <p:nvSpPr>
          <p:cNvPr id="30" name="Text 27"/>
          <p:cNvSpPr txBox="1"/>
          <p:nvPr/>
        </p:nvSpPr>
        <p:spPr>
          <a:xfrm>
            <a:off x="1447495" y="8328355"/>
            <a:ext cx="72969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일 평균 수요 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</a:t>
            </a:r>
            <a:pPr algn="l" indent="0" marL="0">
              <a:buNone/>
            </a:pPr>
            <a:r>
              <a:rPr lang="en-US" sz="8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리드타임 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</a:t>
            </a:r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안전재고 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EOQ</a:t>
            </a:r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최적 주문량(500개) 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734702" y="6896405"/>
            <a:ext cx="710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Pull Strategy 작동 원리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9734702" y="7668158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734702" y="7343546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0248595" y="7343546"/>
            <a:ext cx="6591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소비 셀이 빈 칸반 카드를 상류로 발신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734702" y="8089697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734702" y="7765085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0248595" y="7765085"/>
            <a:ext cx="6591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상류 셀이 카드 수신 시 EOQ 단위로만 보충 생산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734702" y="8511235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734702" y="8186623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0248595" y="8186623"/>
            <a:ext cx="6591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재고 = 카드 수 × Lot Size — 카드 압축이 곧 재고 압축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734702" y="8608162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10248595" y="8608162"/>
            <a:ext cx="6591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왜곡 없이 실제 소비만큼만 흐름 — 채찍효과 차단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762195"/>
            <a:ext cx="4095598" cy="209580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29707" y="4762195"/>
            <a:ext cx="4095598" cy="20958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7048195"/>
            <a:ext cx="4095598" cy="209580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9707" y="7048195"/>
            <a:ext cx="4095598" cy="209580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5695" y="4381805"/>
            <a:ext cx="7239305" cy="5048402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pic>
        <p:nvPicPr>
          <p:cNvPr id="12" name="Image 2" descr="gen-dedup-93fe2c787ef8f14fd429a2aead931166.png">    </p:cNvPr>
          <p:cNvPicPr>
            <a:picLocks noChangeAspect="1"/>
          </p:cNvPicPr>
          <p:nvPr/>
        </p:nvPicPr>
        <p:blipFill>
          <a:blip r:embed="rId3"/>
          <a:srcRect l="0" r="0" t="-402" b="-402"/>
          <a:stretch/>
        </p:blipFill>
        <p:spPr>
          <a:xfrm>
            <a:off x="5429707" y="4762195"/>
            <a:ext cx="4095598" cy="576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24 / 30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Push-Pull Boundary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Postponement Boundary의 통계적 설계</a:t>
            </a:r>
            <a:endParaRPr lang="en-US" sz="4000" dirty="0"/>
          </a:p>
        </p:txBody>
      </p:sp>
      <p:sp>
        <p:nvSpPr>
          <p:cNvPr id="17" name="Text 12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슈나이더는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IV 사분면(High Uncertainty + High EOS)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위치 — Push-Pull 하이브리드가 유일한 정답.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4381805"/>
            <a:ext cx="8382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선택 매트릭스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447495" y="4953305"/>
            <a:ext cx="3486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 · High Unc / Low EOS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1447495" y="5201107"/>
            <a:ext cx="34866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완전 Pull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447495" y="5581498"/>
            <a:ext cx="3486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하이엔드 맞춤 PC — 예측 불가능 + 대량 불필요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5734202" y="4953305"/>
            <a:ext cx="3486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IV · High Unc / High EOS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5734202" y="5201107"/>
            <a:ext cx="34866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★ Push-Pull Hybrid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5734202" y="5581498"/>
            <a:ext cx="3995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 위치</a:t>
            </a:r>
            <a:pPr algn="l" indent="0" marL="0">
              <a:buNone/>
            </a:pPr>
            <a:r>
              <a:rPr lang="en-US" sz="9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가구 산업 · 자동차 — 예측 불안정 + 규모 필수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447495" y="7239305"/>
            <a:ext cx="3486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II · Low Unc / Low EOS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1447495" y="7487107"/>
            <a:ext cx="34866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Pull / Push-Pull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1447495" y="7810805"/>
            <a:ext cx="3486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서적 — 안정적 수요 + 소량 다품종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5734202" y="7239305"/>
            <a:ext cx="3486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III · Low Unc / High EOS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5734202" y="7487107"/>
            <a:ext cx="34866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완전 Push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5734202" y="7867498"/>
            <a:ext cx="3486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식료품·생필품 — 안정 수요 + 대량 운송 필수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0211105" y="4610405"/>
            <a:ext cx="66294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Push-Pull Boundary 설계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0211105" y="4924044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42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제품 차별화가 일어나는 지점 = Postponement Point</a:t>
            </a:r>
            <a:endParaRPr lang="en-US" sz="2200" dirty="0"/>
          </a:p>
        </p:txBody>
      </p:sp>
      <p:sp>
        <p:nvSpPr>
          <p:cNvPr id="34" name="Shape 29"/>
          <p:cNvSpPr/>
          <p:nvPr/>
        </p:nvSpPr>
        <p:spPr>
          <a:xfrm>
            <a:off x="10211105" y="5495544"/>
            <a:ext cx="6629400" cy="800100"/>
          </a:xfrm>
          <a:prstGeom prst="rect">
            <a:avLst/>
          </a:prstGeom>
          <a:solidFill>
            <a:srgbClr val="0F24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0420502" y="5648249"/>
            <a:ext cx="6210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Upstream (Push)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0420502" y="5905195"/>
            <a:ext cx="6210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모듈 → </a:t>
            </a:r>
            <a:pPr algn="l" indent="0" marL="0">
              <a:buNone/>
            </a:pPr>
            <a:r>
              <a:rPr lang="en-US" sz="12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MTS 85%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장기 예측 기반 대량 생산 · 규모의 경제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0211105" y="6427318"/>
            <a:ext cx="66294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242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↓ Boundary ↓</a:t>
            </a:r>
            <a:endParaRPr lang="en-US" sz="2700" dirty="0"/>
          </a:p>
        </p:txBody>
      </p:sp>
      <p:sp>
        <p:nvSpPr>
          <p:cNvPr id="38" name="Shape 33"/>
          <p:cNvSpPr/>
          <p:nvPr/>
        </p:nvSpPr>
        <p:spPr>
          <a:xfrm>
            <a:off x="10211105" y="6979615"/>
            <a:ext cx="6629400" cy="800100"/>
          </a:xfrm>
          <a:prstGeom prst="rect">
            <a:avLst/>
          </a:prstGeom>
          <a:solidFill>
            <a:srgbClr val="0F24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420502" y="7132320"/>
            <a:ext cx="6210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Downstream (Pull)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10420502" y="7389266"/>
            <a:ext cx="6210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조립 → </a:t>
            </a:r>
            <a:pPr algn="l" indent="0" marL="0">
              <a:buNone/>
            </a:pPr>
            <a:r>
              <a:rPr lang="en-US" sz="12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MTO 15%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실제 주문 기반 사양 차별화 · 유연성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10211105" y="7949794"/>
            <a:ext cx="6629400" cy="466344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42" name="Shape 37"/>
          <p:cNvSpPr/>
          <p:nvPr/>
        </p:nvSpPr>
        <p:spPr>
          <a:xfrm>
            <a:off x="10211105" y="7949794"/>
            <a:ext cx="38405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10439705" y="8083296"/>
            <a:ext cx="6210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Benetton 벤치마크: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흰색 티셔츠 → 시즌 직전 색상 염색.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슈나이더는 흰색 모듈 → 최종 사양 조립.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10211105" y="8560613"/>
            <a:ext cx="6629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기준: 부품 단계 CV + 사양별 변동 패턴 분석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762195"/>
            <a:ext cx="5143500" cy="361919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72707" y="4762195"/>
            <a:ext cx="5143500" cy="361919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0" y="4762195"/>
            <a:ext cx="5143500" cy="361919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8572500"/>
            <a:ext cx="16002000" cy="952805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pic>
        <p:nvPicPr>
          <p:cNvPr id="11" name="Image 2" descr="gen-dedup-0107d1ae14c09339e348ad4b6225522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143000" y="4762195"/>
            <a:ext cx="5143500" cy="57607"/>
          </a:xfrm>
          <a:prstGeom prst="rect">
            <a:avLst/>
          </a:prstGeom>
        </p:spPr>
      </p:pic>
      <p:pic>
        <p:nvPicPr>
          <p:cNvPr id="12" name="Image 3" descr="gen-dedup-0107d1ae14c09339e348ad4b62255229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6572707" y="4762195"/>
            <a:ext cx="5143500" cy="57607"/>
          </a:xfrm>
          <a:prstGeom prst="rect">
            <a:avLst/>
          </a:prstGeom>
        </p:spPr>
      </p:pic>
      <p:pic>
        <p:nvPicPr>
          <p:cNvPr id="13" name="Image 4" descr="gen-dedup-0107d1ae14c09339e348ad4b62255229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12001500" y="4762195"/>
            <a:ext cx="5143500" cy="5760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25 / 30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Mass Customization &amp; DFLM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Part Standardization과 R&amp;D-물류 연계</a:t>
            </a:r>
            <a:endParaRPr lang="en-US" sz="4000" dirty="0"/>
          </a:p>
        </p:txBody>
      </p:sp>
      <p:sp>
        <p:nvSpPr>
          <p:cNvPr id="18" name="Text 11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모듈러 아키텍처로 부품 표준화를 달성하여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 생산의 원가 경쟁력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고객별 사양 유연성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동시 충족하는 Mass Customization 완성.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4381805"/>
            <a:ext cx="16002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DFLM 3대 접근법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447495" y="5048402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Approach 01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447495" y="5362956"/>
            <a:ext cx="4534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Part Standardization</a:t>
            </a:r>
            <a:endParaRPr lang="en-US" sz="1900" dirty="0"/>
          </a:p>
        </p:txBody>
      </p:sp>
      <p:pic>
        <p:nvPicPr>
          <p:cNvPr id="23" name="Image 5" descr="gen-dedup-679b89e2cb2a167b3e37c7a65c5f5be0.png">    </p:cNvPr>
          <p:cNvPicPr>
            <a:picLocks noChangeAspect="1"/>
          </p:cNvPicPr>
          <p:nvPr/>
        </p:nvPicPr>
        <p:blipFill>
          <a:blip r:embed="rId6"/>
          <a:srcRect l="-2078" r="-2078" t="0" b="0"/>
          <a:stretch/>
        </p:blipFill>
        <p:spPr>
          <a:xfrm>
            <a:off x="1447495" y="5792724"/>
            <a:ext cx="4533595" cy="91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47495" y="5936285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다수 완제품 라인업에 동일 공통 부품 사용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1447495" y="6254496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부품 단계 </a:t>
            </a:r>
            <a:pPr algn="l" indent="0" marL="0">
              <a:buNone/>
            </a:pPr>
            <a:r>
              <a:rPr lang="en-US" sz="11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Pooling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안전재고 √n배 감소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1447495" y="6573622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30만 SKU를 가능케 하는 결정적 메커니즘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1447495" y="6950354"/>
            <a:ext cx="4533595" cy="4096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0"/>
          <p:cNvSpPr/>
          <p:nvPr/>
        </p:nvSpPr>
        <p:spPr>
          <a:xfrm>
            <a:off x="1447495" y="6950354"/>
            <a:ext cx="28346" cy="409651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1628546" y="7064654"/>
            <a:ext cx="4200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 출처: 운영관리 교재 6장 표준화 전략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6877202" y="5048402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Approach 02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6877202" y="5362956"/>
            <a:ext cx="4534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DFLM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6877202" y="5736031"/>
            <a:ext cx="4534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for Logistics &amp; Manufacturing</a:t>
            </a:r>
            <a:endParaRPr lang="en-US" sz="1000" dirty="0"/>
          </a:p>
        </p:txBody>
      </p:sp>
      <p:pic>
        <p:nvPicPr>
          <p:cNvPr id="33" name="Image 6" descr="gen-dedup-679b89e2cb2a167b3e37c7a65c5f5be0.png">    </p:cNvPr>
          <p:cNvPicPr>
            <a:picLocks noChangeAspect="1"/>
          </p:cNvPicPr>
          <p:nvPr/>
        </p:nvPicPr>
        <p:blipFill>
          <a:blip r:embed="rId7"/>
          <a:srcRect l="-2078" r="-2078" t="0" b="0"/>
          <a:stretch/>
        </p:blipFill>
        <p:spPr>
          <a:xfrm>
            <a:off x="6877202" y="6059729"/>
            <a:ext cx="4533595" cy="91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877202" y="6202375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R&amp;D 설계 단계부터 제조·물류 효율 선제 반영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6877202" y="6521501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Economic Packaging (IKEA Flat-pack 원리)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6877202" y="6840626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제품 설계가 SCM 총비용의 가장 큰 결정 요인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6877202" y="7217359"/>
            <a:ext cx="4533595" cy="4096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29"/>
          <p:cNvSpPr/>
          <p:nvPr/>
        </p:nvSpPr>
        <p:spPr>
          <a:xfrm>
            <a:off x="6877202" y="7217359"/>
            <a:ext cx="28346" cy="409651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7058254" y="7331659"/>
            <a:ext cx="4200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슈나이더: 부품 모듈러 + 콤팩트 적재 동시 설계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12305995" y="5048402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Approach 03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12305995" y="5362956"/>
            <a:ext cx="4534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Concurrent Processing</a:t>
            </a:r>
            <a:endParaRPr lang="en-US" sz="1900" dirty="0"/>
          </a:p>
        </p:txBody>
      </p:sp>
      <p:pic>
        <p:nvPicPr>
          <p:cNvPr id="42" name="Image 7" descr="gen-dedup-65c6806cc4ed206d2dc3a9747717f36b.png">    </p:cNvPr>
          <p:cNvPicPr>
            <a:picLocks noChangeAspect="1"/>
          </p:cNvPicPr>
          <p:nvPr/>
        </p:nvPicPr>
        <p:blipFill>
          <a:blip r:embed="rId8"/>
          <a:srcRect l="-2078" r="-2078" t="0" b="0"/>
          <a:stretch/>
        </p:blipFill>
        <p:spPr>
          <a:xfrm>
            <a:off x="12305995" y="5792724"/>
            <a:ext cx="4533595" cy="914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05995" y="5936285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순차 제조 깨고 모듈 다거점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 생산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12305995" y="6254496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최종 단계 결합만 수행 —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LT 단축</a:t>
            </a:r>
            <a:endParaRPr lang="en-US" sz="1100" dirty="0"/>
          </a:p>
        </p:txBody>
      </p:sp>
      <p:sp>
        <p:nvSpPr>
          <p:cNvPr id="45" name="Text 35"/>
          <p:cNvSpPr txBox="1"/>
          <p:nvPr/>
        </p:nvSpPr>
        <p:spPr>
          <a:xfrm>
            <a:off x="12305995" y="6573622"/>
            <a:ext cx="4534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안전재고 요구량 추가 감소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12305995" y="6950354"/>
            <a:ext cx="4533595" cy="409651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47" name="Shape 37"/>
          <p:cNvSpPr/>
          <p:nvPr/>
        </p:nvSpPr>
        <p:spPr>
          <a:xfrm>
            <a:off x="12305995" y="6950354"/>
            <a:ext cx="28346" cy="409651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12487046" y="7064654"/>
            <a:ext cx="4200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 Multi-hub 구조 + Kinaxis가 가능케 함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1447495" y="8796528"/>
            <a:ext cx="2095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3847795" y="8762695"/>
            <a:ext cx="7668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30만 SKU × B2B 맞춤 사양을 </a:t>
            </a:r>
            <a:pPr algn="l" indent="0" marL="0">
              <a:buNone/>
            </a:pPr>
            <a:r>
              <a:rPr lang="en-US" sz="13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양산 원가</a:t>
            </a:r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소화 — 단순 Pull 전략으로는 절대 불가능한 영역 달성</a:t>
            </a:r>
            <a:endParaRPr lang="en-US" sz="1300" dirty="0"/>
          </a:p>
        </p:txBody>
      </p:sp>
      <p:sp>
        <p:nvSpPr>
          <p:cNvPr id="51" name="Shape 41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7429500"/>
            <a:ext cx="7429500" cy="2000707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53805" y="4381805"/>
            <a:ext cx="8191195" cy="5048402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26 / 30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SMED &amp; Lean Manufacturing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금형 교체 39분 → 9분, 준비비용 K의 EOQ적 의미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STP는 SMED로 금형 교체 시간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39분 → 9분 (77% 감소)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EOQ상 K(준비비용)를 낮추고 소량 다품종 생산을 경제화했다.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5115154"/>
            <a:ext cx="1848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5381244"/>
            <a:ext cx="2919679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0" b="1" spc="-390" kern="0" dirty="0">
                <a:solidFill>
                  <a:srgbClr val="9A9A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39</a:t>
            </a:r>
            <a:pPr algn="l" indent="0" marL="0">
              <a:buNone/>
            </a:pPr>
            <a:r>
              <a:rPr lang="en-US" sz="3700" b="1" spc="-390" kern="0" dirty="0">
                <a:solidFill>
                  <a:srgbClr val="9A9A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분</a:t>
            </a:r>
            <a:endParaRPr lang="en-US" sz="9700" dirty="0"/>
          </a:p>
        </p:txBody>
      </p:sp>
      <p:sp>
        <p:nvSpPr>
          <p:cNvPr id="17" name="Text 13"/>
          <p:cNvSpPr txBox="1"/>
          <p:nvPr/>
        </p:nvSpPr>
        <p:spPr>
          <a:xfrm>
            <a:off x="3179369" y="4381805"/>
            <a:ext cx="7626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6000" dirty="0"/>
          </a:p>
        </p:txBody>
      </p:sp>
      <p:sp>
        <p:nvSpPr>
          <p:cNvPr id="18" name="Text 14"/>
          <p:cNvSpPr txBox="1"/>
          <p:nvPr/>
        </p:nvSpPr>
        <p:spPr>
          <a:xfrm>
            <a:off x="4132174" y="5115154"/>
            <a:ext cx="1124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132174" y="5381244"/>
            <a:ext cx="1776679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0" b="1" spc="-39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9</a:t>
            </a:r>
            <a:pPr algn="l" indent="0" marL="0">
              <a:buNone/>
            </a:pPr>
            <a:r>
              <a:rPr lang="en-US" sz="3700" b="1" spc="-39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분</a:t>
            </a:r>
            <a:endParaRPr lang="en-US" sz="97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6752844"/>
            <a:ext cx="7429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프레스 금형 교체 시간 — 77% 단축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447495" y="7658100"/>
            <a:ext cx="6858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EOQ 이론 연결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447495" y="7972654"/>
            <a:ext cx="6858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EOQ = √(2D</a:t>
            </a:r>
            <a:pPr algn="l" indent="0" marL="0">
              <a:buNone/>
            </a:pPr>
            <a:r>
              <a:rPr lang="en-US" sz="22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</a:t>
            </a:r>
            <a:pPr algn="l" indent="0" marL="0">
              <a:buNone/>
            </a:pPr>
            <a:r>
              <a:rPr lang="en-US" sz="22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/h)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1447495" y="8524951"/>
            <a:ext cx="6858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K(준비비용) 감소 → 최적 Lot Size 감소 → 소량 다품종 경제화.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Lean의 7대 낭비(Muda) 중 Setup/Waiting 시간을 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원가화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사례. 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258300" y="4610405"/>
            <a:ext cx="7582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 효과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258300" y="5020056"/>
            <a:ext cx="7582205" cy="1419149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26" name="Shape 22"/>
          <p:cNvSpPr/>
          <p:nvPr/>
        </p:nvSpPr>
        <p:spPr>
          <a:xfrm>
            <a:off x="9258300" y="5020056"/>
            <a:ext cx="38405" cy="1419149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525305" y="5210251"/>
            <a:ext cx="7086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조립 서비스 대응성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9525305" y="5486400"/>
            <a:ext cx="70866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98%</a:t>
            </a:r>
            <a:endParaRPr lang="en-US" sz="3900" dirty="0"/>
          </a:p>
        </p:txBody>
      </p:sp>
      <p:sp>
        <p:nvSpPr>
          <p:cNvPr id="29" name="Text 25"/>
          <p:cNvSpPr txBox="1"/>
          <p:nvPr/>
        </p:nvSpPr>
        <p:spPr>
          <a:xfrm>
            <a:off x="9525305" y="6057900"/>
            <a:ext cx="7086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 버퍼 없이도 타겟 목표 지표 달성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9258300" y="6610198"/>
            <a:ext cx="7582205" cy="1419149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1" name="Shape 27"/>
          <p:cNvSpPr/>
          <p:nvPr/>
        </p:nvSpPr>
        <p:spPr>
          <a:xfrm>
            <a:off x="9258300" y="6610198"/>
            <a:ext cx="38405" cy="1419149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525305" y="6801307"/>
            <a:ext cx="7086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간접비 절감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9525305" y="7077456"/>
            <a:ext cx="70866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$1M+</a:t>
            </a:r>
            <a:endParaRPr lang="en-US" sz="3900" dirty="0"/>
          </a:p>
        </p:txBody>
      </p:sp>
      <p:sp>
        <p:nvSpPr>
          <p:cNvPr id="34" name="Text 30"/>
          <p:cNvSpPr txBox="1"/>
          <p:nvPr/>
        </p:nvSpPr>
        <p:spPr>
          <a:xfrm>
            <a:off x="9525305" y="7648956"/>
            <a:ext cx="7086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이상 지연·납기 페널티 등 낭비 비용 절감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9258300" y="8201254"/>
            <a:ext cx="7582205" cy="761695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467698" y="8372246"/>
            <a:ext cx="71634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이론적 의의:</a:t>
            </a:r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EOQ 공식의 K 항목을 운영 개선의 </a:t>
            </a:r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 행동 목표</a:t>
            </a:r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환원 — 1913년 Wilson과 1950년 Toyota Shingo의 합작이 2025년 슈나이더 STP에서 결실. 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7905902" cy="5048402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27 / 30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Inventory Pooling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75개 DC의 SKU 분산 배치 최적화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75개 DC + 중앙창고 간 SKU 분산 배치로 안전재고 풀링(Safety Stock Pooling) 효과를 활용, 총 재고를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이론적 최소 수준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근접시켰다.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447495" y="4610405"/>
            <a:ext cx="7296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풀링 효과의 수식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447495" y="5095951"/>
            <a:ext cx="7295998" cy="14191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1447495" y="5095951"/>
            <a:ext cx="38405" cy="1419149"/>
          </a:xfrm>
          <a:prstGeom prst="rect">
            <a:avLst/>
          </a:prstGeom>
          <a:solidFill>
            <a:srgbClr val="9A2C2C"/>
          </a:solidFill>
          <a:ln w="12700">
            <a:solidFill>
              <a:srgbClr val="9A2C2C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714500" y="5286146"/>
            <a:ext cx="6801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 배치 (Decentralized)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714500" y="5581498"/>
            <a:ext cx="68013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SS</a:t>
            </a:r>
            <a:pPr algn="l" indent="0" marL="0">
              <a:buNone/>
            </a:pPr>
            <a:r>
              <a:rPr lang="en-US" sz="15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decentralized</a:t>
            </a:r>
            <a:pPr algn="l" indent="0" marL="0">
              <a:buNone/>
            </a:pPr>
            <a:r>
              <a:rPr lang="en-US" sz="28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= n·σ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1714500" y="6130138"/>
            <a:ext cx="6801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n개 위치 각각에 σ만큼 안전재고 보유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447495" y="6682435"/>
            <a:ext cx="7295998" cy="14191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1447495" y="6682435"/>
            <a:ext cx="38405" cy="1419149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714500" y="6873545"/>
            <a:ext cx="6801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풀링 (Pooled)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714500" y="7168896"/>
            <a:ext cx="68013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SS</a:t>
            </a:r>
            <a:pPr algn="l" indent="0" marL="0">
              <a:buNone/>
            </a:pPr>
            <a:r>
              <a:rPr lang="en-US" sz="15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pooled</a:t>
            </a:r>
            <a:pPr algn="l" indent="0" marL="0">
              <a:buNone/>
            </a:pPr>
            <a:r>
              <a:rPr lang="en-US" sz="28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= σ·√n</a:t>
            </a:r>
            <a:endParaRPr lang="en-US" sz="2800" dirty="0"/>
          </a:p>
        </p:txBody>
      </p:sp>
      <p:sp>
        <p:nvSpPr>
          <p:cNvPr id="24" name="Text 20"/>
          <p:cNvSpPr txBox="1"/>
          <p:nvPr/>
        </p:nvSpPr>
        <p:spPr>
          <a:xfrm>
            <a:off x="1714500" y="7716622"/>
            <a:ext cx="6801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n개 통합 시 안전재고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√n배</a:t>
            </a:r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필요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447495" y="8326526"/>
            <a:ext cx="7295998" cy="476402"/>
          </a:xfrm>
          <a:prstGeom prst="rect">
            <a:avLst/>
          </a:prstGeom>
          <a:solidFill>
            <a:srgbClr val="1A3636"/>
          </a:solidFill>
          <a:ln/>
        </p:spPr>
      </p:sp>
      <p:sp>
        <p:nvSpPr>
          <p:cNvPr id="26" name="Shape 22"/>
          <p:cNvSpPr/>
          <p:nvPr/>
        </p:nvSpPr>
        <p:spPr>
          <a:xfrm>
            <a:off x="1447495" y="8326526"/>
            <a:ext cx="38405" cy="476402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676095" y="8460029"/>
            <a:ext cx="6877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n=4 위치 통합 시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안전재고 4σ → 2σ로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 절감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9430207" y="4381805"/>
            <a:ext cx="7715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 2단 구조 적용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30207" y="5620817"/>
            <a:ext cx="7715707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430207" y="4962449"/>
            <a:ext cx="571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2100" dirty="0"/>
          </a:p>
        </p:txBody>
      </p:sp>
      <p:sp>
        <p:nvSpPr>
          <p:cNvPr id="31" name="Text 27"/>
          <p:cNvSpPr txBox="1"/>
          <p:nvPr/>
        </p:nvSpPr>
        <p:spPr>
          <a:xfrm>
            <a:off x="10191902" y="4962449"/>
            <a:ext cx="6954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고변동·저회전 SKU → Central Warehouse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10191902" y="5248656"/>
            <a:ext cx="6954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불확실성이 큰 품목은 중앙 집중 — 풀링 효과 극대화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9430207" y="6458407"/>
            <a:ext cx="7715707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430207" y="5800954"/>
            <a:ext cx="571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2100" dirty="0"/>
          </a:p>
        </p:txBody>
      </p:sp>
      <p:sp>
        <p:nvSpPr>
          <p:cNvPr id="35" name="Text 31"/>
          <p:cNvSpPr txBox="1"/>
          <p:nvPr/>
        </p:nvSpPr>
        <p:spPr>
          <a:xfrm>
            <a:off x="10191902" y="5800954"/>
            <a:ext cx="6954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안정·고회전 SKU → Regional DC 분산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10191902" y="6086246"/>
            <a:ext cx="6954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근접성 우선 — 빠른 배송 + 운송비 절감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9430207" y="7296912"/>
            <a:ext cx="7715707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430207" y="6638544"/>
            <a:ext cx="571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2100" dirty="0"/>
          </a:p>
        </p:txBody>
      </p:sp>
      <p:sp>
        <p:nvSpPr>
          <p:cNvPr id="39" name="Text 35"/>
          <p:cNvSpPr txBox="1"/>
          <p:nvPr/>
        </p:nvSpPr>
        <p:spPr>
          <a:xfrm>
            <a:off x="10191902" y="6638544"/>
            <a:ext cx="6954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DIN 전년비 </a:t>
            </a:r>
            <a:pPr algn="l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3영업일+ 압축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10191902" y="6924751"/>
            <a:ext cx="6954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서비스 수준 유지 + 재고 자본 효율 개선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9430207" y="7477049"/>
            <a:ext cx="571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2100" dirty="0"/>
          </a:p>
        </p:txBody>
      </p:sp>
      <p:sp>
        <p:nvSpPr>
          <p:cNvPr id="42" name="Text 38"/>
          <p:cNvSpPr txBox="1"/>
          <p:nvPr/>
        </p:nvSpPr>
        <p:spPr>
          <a:xfrm>
            <a:off x="10191902" y="7477049"/>
            <a:ext cx="6954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VMI 일부 적용 — 정보 왜곡 추가 제거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10191902" y="7763256"/>
            <a:ext cx="6954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공급사가 직접 슈나이더 DC 재고 관리 (Coca-Cola/Tesco 모델)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9430207" y="8324698"/>
            <a:ext cx="7715707" cy="552298"/>
          </a:xfrm>
          <a:prstGeom prst="rect">
            <a:avLst/>
          </a:prstGeom>
          <a:solidFill>
            <a:srgbClr val="1A3636"/>
          </a:solidFill>
          <a:ln/>
        </p:spPr>
      </p:sp>
      <p:sp>
        <p:nvSpPr>
          <p:cNvPr id="45" name="Shape 41"/>
          <p:cNvSpPr/>
          <p:nvPr/>
        </p:nvSpPr>
        <p:spPr>
          <a:xfrm>
            <a:off x="9430207" y="8324698"/>
            <a:ext cx="38405" cy="552298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677095" y="8496605"/>
            <a:ext cx="72585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효과: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풀링 + Part Standardization + Concurrent Planning이 누적 작용 → DIN 압축의 본질 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53805" y="4381805"/>
            <a:ext cx="8191195" cy="5048402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28 / 30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Revenue Management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EcoStruxure로 €25B 수주잔고 가치 극대화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EcoStruxure의 솔루션 가치 입증으로 dynamic pricing 압박을 방어하고,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€25B 수주잔고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자산 매칭 전략으로 극대화한다.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4381805"/>
            <a:ext cx="7429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관리 4대 조건 — 모두 부합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143000" y="5506517"/>
            <a:ext cx="7429500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143000" y="4924044"/>
            <a:ext cx="4764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790395" y="4924044"/>
            <a:ext cx="67821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세그먼트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790395" y="5181905"/>
            <a:ext cx="6782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전방시장 — Data Center · Buildings · Industry · Infrastructure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143000" y="6229807"/>
            <a:ext cx="7429500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43000" y="5648249"/>
            <a:ext cx="4764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790395" y="5648249"/>
            <a:ext cx="67821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소멸성 자산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790395" y="5905195"/>
            <a:ext cx="6782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CAPA — 사용하지 않으면 그 시간만큼 가치 소멸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143000" y="6954012"/>
            <a:ext cx="7429500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143000" y="6372454"/>
            <a:ext cx="4764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790395" y="6372454"/>
            <a:ext cx="67821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계절성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790395" y="6629400"/>
            <a:ext cx="6782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데이터센터 분기 집중 발주 + 빌딩 시즌 사이클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143000" y="7095744"/>
            <a:ext cx="4764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1790395" y="7095744"/>
            <a:ext cx="67821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판매 채널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1790395" y="7353605"/>
            <a:ext cx="6782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Direct · Distributor · OEM · E-commerce 4채널 동시 운영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9258300" y="4610405"/>
            <a:ext cx="7582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사상 최고 수주잔고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9258300" y="4924044"/>
            <a:ext cx="7582205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spc="-48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€25</a:t>
            </a:r>
            <a:pPr algn="l" indent="0" marL="0">
              <a:buNone/>
            </a:pPr>
            <a:r>
              <a:rPr lang="en-US" sz="6700" b="1" spc="-48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</a:t>
            </a:r>
            <a:endParaRPr lang="en-US" sz="12000" dirty="0"/>
          </a:p>
        </p:txBody>
      </p:sp>
      <p:sp>
        <p:nvSpPr>
          <p:cNvPr id="32" name="Text 28"/>
          <p:cNvSpPr txBox="1"/>
          <p:nvPr/>
        </p:nvSpPr>
        <p:spPr>
          <a:xfrm>
            <a:off x="9258300" y="6620256"/>
            <a:ext cx="827623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수요 가시성이 곧 가격 협상력 — 슈나이더는 dynamic pricing 압박을 방어하는 위치에 있다.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9258300" y="7114032"/>
            <a:ext cx="7582205" cy="866851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4" name="Shape 30"/>
          <p:cNvSpPr/>
          <p:nvPr/>
        </p:nvSpPr>
        <p:spPr>
          <a:xfrm>
            <a:off x="9258300" y="7114032"/>
            <a:ext cx="38405" cy="866851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525305" y="7304227"/>
            <a:ext cx="7086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EcoStruxure의 역할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525305" y="756208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솔루션 가치를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입증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Lead Time 단축 · 에너지 절감 · CO₂ 감축 — 가격 협상력 확보 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9258300" y="8107070"/>
            <a:ext cx="7582205" cy="866851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38" name="Shape 34"/>
          <p:cNvSpPr/>
          <p:nvPr/>
        </p:nvSpPr>
        <p:spPr>
          <a:xfrm>
            <a:off x="9258300" y="8107070"/>
            <a:ext cx="38405" cy="866851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525305" y="8297266"/>
            <a:ext cx="7086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매칭 전략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9525305" y="855512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€25B 수주잔고 ↔ CAPA · 재고 · 물류 동시 매칭 —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Spoilage(빈 CAPA)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Spill(고가 고객 유실)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균형 최적화 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b4b48ee96ea957459e44d300d34d5ce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7905902" cy="5048402"/>
          </a:xfrm>
          <a:prstGeom prst="rect">
            <a:avLst/>
          </a:prstGeom>
          <a:solidFill>
            <a:srgbClr val="F4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30207" y="4381805"/>
            <a:ext cx="7715707" cy="5048402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c11de035a99228167ce30f838b18abf4.png">    </p:cNvPr>
          <p:cNvPicPr>
            <a:picLocks noChangeAspect="1"/>
          </p:cNvPicPr>
          <p:nvPr/>
        </p:nvPicPr>
        <p:blipFill>
          <a:blip r:embed="rId2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875995"/>
            <a:ext cx="3617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운영관리 교재 이론과의 정밀 연계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29 / 30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524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· SCRM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886407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1F1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Lean/JIT의 명암 — Dual Sourcing 방어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슈나이더는 Lean·JIT 고도화의 라인 정지 리스크를 인지하고, 핵심 부품에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Dual Sourcing + 안전재고 정책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회복 탄력성을 확보한다.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447495" y="4610405"/>
            <a:ext cx="7296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Lean의 양면성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447495" y="4924044"/>
            <a:ext cx="7296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버퍼 제거의 두 얼굴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1447495" y="5477256"/>
            <a:ext cx="7295998" cy="7909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1447495" y="5477256"/>
            <a:ext cx="38405" cy="790956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695298" y="5629046"/>
            <a:ext cx="6839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밝은 면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695298" y="5886907"/>
            <a:ext cx="6839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버퍼 자산 제거 → </a:t>
            </a:r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원가·재고·LT 동시 감소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DIN 압축 · 운전자본 효율 ↑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447495" y="6393485"/>
            <a:ext cx="7295998" cy="7909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1447495" y="6393485"/>
            <a:ext cx="38405" cy="790956"/>
          </a:xfrm>
          <a:prstGeom prst="rect">
            <a:avLst/>
          </a:prstGeom>
          <a:solidFill>
            <a:srgbClr val="9A2C2C"/>
          </a:solidFill>
          <a:ln w="12700">
            <a:solidFill>
              <a:srgbClr val="9A2C2C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695298" y="6546190"/>
            <a:ext cx="6839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어두운 면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695298" y="6803136"/>
            <a:ext cx="6839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정보 통제 누수에 </a:t>
            </a:r>
            <a:pPr algn="l" indent="0" marL="0">
              <a:buNone/>
            </a:pPr>
            <a:r>
              <a:rPr lang="en-US" sz="1100" b="1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</a:t>
            </a:r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STP 칸반 카드 분실 사례, 협력사 납기 지연 시 </a:t>
            </a:r>
            <a:pPr algn="l" indent="0" marL="0">
              <a:buNone/>
            </a:pPr>
            <a:r>
              <a:rPr lang="en-US" sz="1100" b="1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라인 정지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1447495" y="7310628"/>
            <a:ext cx="7295998" cy="7909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1447495" y="7310628"/>
            <a:ext cx="38405" cy="790956"/>
          </a:xfrm>
          <a:prstGeom prst="rect">
            <a:avLst/>
          </a:prstGeom>
          <a:solidFill>
            <a:srgbClr val="9A2C2C"/>
          </a:solidFill>
          <a:ln w="12700">
            <a:solidFill>
              <a:srgbClr val="9A2C2C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695298" y="7462418"/>
            <a:ext cx="6839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76" kern="0" dirty="0">
                <a:solidFill>
                  <a:srgbClr val="9A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채찍효과 잔존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695298" y="7720279"/>
            <a:ext cx="6839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Operational Obstacle (배치 주문) + Behavioral Obstacle (과잉 반응) — </a:t>
            </a:r>
            <a:pPr algn="l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제거 불가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9734702" y="4610405"/>
            <a:ext cx="710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34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슈나이더의 방어 메커니즘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734702" y="4924044"/>
            <a:ext cx="71058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SCRM 4중 안전망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9734702" y="5972861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734702" y="5609844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0382098" y="5609844"/>
            <a:ext cx="6458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Dual Sourcing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Bottleneck/Strategic 품목에 공급사 2개+ 확보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9734702" y="6477610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734702" y="6115507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10382098" y="6115507"/>
            <a:ext cx="6458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안전재고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Kraljic Bottleneck 분면 한정 — 가격 프리미엄 감수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9734702" y="6982358"/>
            <a:ext cx="7105802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734702" y="6620256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10382098" y="6620256"/>
            <a:ext cx="6458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Kinaxis 디지털 감지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리스크 감지 시 대체 발주·긴급 통로 </a:t>
            </a:r>
            <a:pPr algn="l" indent="0" marL="0">
              <a:buNone/>
            </a:pPr>
            <a:r>
              <a:rPr lang="en-US" sz="11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타진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9734702" y="7125005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10382098" y="7125005"/>
            <a:ext cx="6458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Multi-hub Regionalization</a:t>
            </a:r>
            <a:pPr algn="l" indent="0" marL="0">
              <a:buNone/>
            </a:pPr>
            <a:r>
              <a:rPr lang="en-US" sz="11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단일 지역 충격 시 타 지역 대체 생산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9734702" y="7658100"/>
            <a:ext cx="7105802" cy="771754"/>
          </a:xfrm>
          <a:prstGeom prst="rect">
            <a:avLst/>
          </a:prstGeom>
          <a:solidFill>
            <a:srgbClr val="0F2424"/>
          </a:solidFill>
          <a:ln/>
        </p:spPr>
      </p:sp>
      <p:sp>
        <p:nvSpPr>
          <p:cNvPr id="43" name="Shape 39"/>
          <p:cNvSpPr/>
          <p:nvPr/>
        </p:nvSpPr>
        <p:spPr>
          <a:xfrm>
            <a:off x="9734702" y="7658100"/>
            <a:ext cx="38405" cy="771754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982505" y="7830007"/>
            <a:ext cx="66486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균형의 원리: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효율(Lean)과 회복탄력성(Resilience)은 트레이드오프가 아니라,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가시성으로 양립 가능한 두 축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 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11ff4e00831ca099d0d9ae2a8f110fd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02000" cy="838505"/>
          </a:xfrm>
          <a:prstGeom prst="rect">
            <a:avLst/>
          </a:prstGeom>
          <a:solidFill>
            <a:srgbClr val="0F24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381805"/>
            <a:ext cx="5162702" cy="2876702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72707" y="4381805"/>
            <a:ext cx="5162702" cy="2876702"/>
          </a:xfrm>
          <a:prstGeom prst="rect">
            <a:avLst/>
          </a:prstGeom>
          <a:solidFill>
            <a:srgbClr val="0F2424"/>
          </a:solidFill>
          <a:ln w="12700">
            <a:solidFill>
              <a:srgbClr val="3A50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0" y="4381805"/>
            <a:ext cx="5143500" cy="2857500"/>
          </a:xfrm>
          <a:prstGeom prst="rect">
            <a:avLst/>
          </a:prstGeom>
          <a:solidFill>
            <a:srgbClr val="3DCD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7524598"/>
            <a:ext cx="16040405" cy="1943100"/>
          </a:xfrm>
          <a:prstGeom prst="rect">
            <a:avLst/>
          </a:prstGeom>
          <a:solidFill>
            <a:srgbClr val="0F2424"/>
          </a:solidFill>
          <a:ln w="25400">
            <a:solidFill>
              <a:srgbClr val="3DCD58"/>
            </a:solidFill>
            <a:prstDash val="solid"/>
          </a:ln>
        </p:spPr>
      </p:sp>
      <p:pic>
        <p:nvPicPr>
          <p:cNvPr id="10" name="Image 1" descr="gen-dedup-c11de035a99228167ce30f838b18abf4.png">    </p:cNvPr>
          <p:cNvPicPr>
            <a:picLocks noChangeAspect="1"/>
          </p:cNvPicPr>
          <p:nvPr/>
        </p:nvPicPr>
        <p:blipFill>
          <a:blip r:embed="rId3"/>
          <a:srcRect l="0" r="0" t="-219" b="-219"/>
          <a:stretch/>
        </p:blipFill>
        <p:spPr>
          <a:xfrm>
            <a:off x="1143000" y="3143707"/>
            <a:ext cx="75895" cy="838505"/>
          </a:xfrm>
          <a:prstGeom prst="rect">
            <a:avLst/>
          </a:prstGeom>
        </p:spPr>
      </p:pic>
      <p:pic>
        <p:nvPicPr>
          <p:cNvPr id="11" name="Image 2" descr="gen-dedup-0107d1ae14c09339e348ad4b62255229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1143000" y="4381805"/>
            <a:ext cx="5143500" cy="57607"/>
          </a:xfrm>
          <a:prstGeom prst="rect">
            <a:avLst/>
          </a:prstGeom>
        </p:spPr>
      </p:pic>
      <p:pic>
        <p:nvPicPr>
          <p:cNvPr id="12" name="Image 3" descr="gen-dedup-0107d1ae14c09339e348ad4b62255229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6572707" y="4381805"/>
            <a:ext cx="5143500" cy="5760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875995"/>
            <a:ext cx="22082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pPr algn="l" indent="0" marL="0">
              <a:buNone/>
            </a:pPr>
            <a:r>
              <a:rPr lang="en-US" sz="900" b="1" spc="215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결론 및 시사점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6002000" y="875995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30 / 30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1524305"/>
            <a:ext cx="16002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Conclusion · 학술 × 디지털 × ESG의 삼위일체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1933956"/>
            <a:ext cx="16002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101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슈나이더의 지속가능한 경쟁우위, 그 본질</a:t>
            </a:r>
            <a:endParaRPr lang="en-US" sz="4000" dirty="0"/>
          </a:p>
        </p:txBody>
      </p:sp>
      <p:sp>
        <p:nvSpPr>
          <p:cNvPr id="17" name="Text 11"/>
          <p:cNvSpPr txBox="1"/>
          <p:nvPr/>
        </p:nvSpPr>
        <p:spPr>
          <a:xfrm>
            <a:off x="1524305" y="3353105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524305" y="3590849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가트너 1위는 </a:t>
            </a:r>
            <a:pPr algn="l" indent="0" marL="0">
              <a:buNone/>
            </a:pPr>
            <a:r>
              <a:rPr lang="en-US" sz="16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 이론 × 디지털 플랫폼 × ESG 가치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결합할 때 비로소 지속가능한 경쟁우위가 된다는 명제의 가장 완성된 실증이다.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447495" y="4667098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Pillar 01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447495" y="4962449"/>
            <a:ext cx="4534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학술 이론 × 디지털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1447495" y="5393131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EOQ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(1913) — STP Lot Size 500개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447495" y="5663794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Kanban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(Toyota 1950s) — 49→24장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447495" y="5934456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SMED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(Shingo 1960s) — 39→9분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447495" y="6204204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Postponement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MTS 85%/MTO 15%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1447495" y="6494069"/>
            <a:ext cx="4533595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447495" y="6579108"/>
            <a:ext cx="4534510" cy="2203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Kinaxis Concurrent Planning 위에서 </a:t>
            </a:r>
            <a:pPr algn="l" indent="0" marL="0">
              <a:buNone/>
            </a:pPr>
            <a:r>
              <a:rPr lang="en-US" sz="1000" b="1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최적화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877202" y="4667098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Pillar 02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6877202" y="4962449"/>
            <a:ext cx="4534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디지털 × ESG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6877202" y="5393131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EcoStruxure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솔루션 가치 정량 입증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877202" y="5663794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 항공유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CO₂ 40%+ 저감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877202" y="5934456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Lean 표준화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자원 효율 극대화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877202" y="6204204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Poka-Yoke</a:t>
            </a:r>
            <a:pPr algn="l" indent="0" marL="0">
              <a:buNone/>
            </a:pPr>
            <a:r>
              <a:rPr lang="en-US" sz="1000" dirty="0">
                <a:solidFill>
                  <a:srgbClr val="E8F4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리콜 24→3건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877202" y="6494069"/>
            <a:ext cx="4533595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877202" y="6579108"/>
            <a:ext cx="4534510" cy="2203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비용 절감 ↔ 지속가능성을 </a:t>
            </a:r>
            <a:pPr algn="l" indent="0" marL="0">
              <a:buNone/>
            </a:pPr>
            <a:r>
              <a:rPr lang="en-US" sz="1000" b="1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 달성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2305995" y="4667098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Pillar 03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2305995" y="4962449"/>
            <a:ext cx="4534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242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시스템 통합</a:t>
            </a:r>
            <a:endParaRPr lang="en-US" sz="1900" dirty="0"/>
          </a:p>
        </p:txBody>
      </p:sp>
      <p:sp>
        <p:nvSpPr>
          <p:cNvPr id="37" name="Text 31"/>
          <p:cNvSpPr txBox="1"/>
          <p:nvPr/>
        </p:nvSpPr>
        <p:spPr>
          <a:xfrm>
            <a:off x="12305995" y="5393131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정확한 예측 </a:t>
            </a:r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(MAPE 4%)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12305995" y="5663794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→ 간소화 Kanban </a:t>
            </a:r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(49→24장)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12305995" y="5934456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→ SMED </a:t>
            </a:r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(39→9분)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12305995" y="6204204"/>
            <a:ext cx="4534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→ 다품종 경제화 + DIN 압축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12305995" y="6494069"/>
            <a:ext cx="4533595" cy="9144"/>
          </a:xfrm>
          <a:prstGeom prst="rect">
            <a:avLst/>
          </a:prstGeom>
          <a:solidFill>
            <a:srgbClr val="1A3636"/>
          </a:solidFill>
          <a:ln w="12700">
            <a:solidFill>
              <a:srgbClr val="1A3636">
                <a:alpha val="0"/>
              </a:srgbClr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12305995" y="6579108"/>
            <a:ext cx="4534510" cy="2203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단절 없는 연쇄 (Seamless Chain)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1447495" y="7753198"/>
            <a:ext cx="1543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교훈 (Final Takeaway)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1447495" y="8067751"/>
            <a:ext cx="15430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슈나이더의 진정한 해자(Moat)는 단일 기술의 도입이 아니라, </a:t>
            </a:r>
            <a:pPr algn="l" indent="0" marL="0">
              <a:buNone/>
            </a:pPr>
            <a:r>
              <a:rPr lang="en-US" sz="2100" b="1" dirty="0">
                <a:solidFill>
                  <a:srgbClr val="3DCD5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학술 이론 · 디지털 플랫폼 · Bottom-up AI 혁신 문화</a:t>
            </a:r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의 삼위일체. </a:t>
            </a:r>
            <a:pPr algn="l" indent="0" marL="0">
              <a:buNone/>
            </a:pPr>
            <a:r>
              <a:rPr lang="en-US" sz="1600" b="1" dirty="0">
                <a:solidFill>
                  <a:srgbClr val="9FD9C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160개 공장이라는 ROPA 핸디캡을 문화로 극복했고, 이를 가트너가 5.81점으로 인증했다.</a:t>
            </a:r>
            <a:endParaRPr lang="en-US" sz="2100" dirty="0"/>
          </a:p>
        </p:txBody>
      </p:sp>
      <p:sp>
        <p:nvSpPr>
          <p:cNvPr id="45" name="Shape 39"/>
          <p:cNvSpPr/>
          <p:nvPr/>
        </p:nvSpPr>
        <p:spPr>
          <a:xfrm>
            <a:off x="1143000" y="9753905"/>
            <a:ext cx="16002000" cy="9144"/>
          </a:xfrm>
          <a:prstGeom prst="rect">
            <a:avLst/>
          </a:prstGeom>
          <a:solidFill>
            <a:srgbClr val="3A5050"/>
          </a:solidFill>
          <a:ln w="12700">
            <a:solidFill>
              <a:srgbClr val="3A5050">
                <a:alpha val="0"/>
              </a:srgbClr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1143000" y="9896551"/>
            <a:ext cx="4940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Schneider Electric Supply Chain · TIM509 Group Report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6627450" y="9896551"/>
            <a:ext cx="698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239305" cy="10287000"/>
          </a:xfrm>
          <a:prstGeom prst="rect">
            <a:avLst/>
          </a:prstGeom>
          <a:solidFill>
            <a:srgbClr val="1A3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069389681ef8bef41f44118a34b817a7.png">    </p:cNvPr>
          <p:cNvPicPr>
            <a:picLocks noChangeAspect="1"/>
          </p:cNvPicPr>
          <p:nvPr/>
        </p:nvPicPr>
        <p:blipFill>
          <a:blip r:embed="rId2"/>
          <a:srcRect l="0" r="0" t="-201" b="-201"/>
          <a:stretch/>
        </p:blipFill>
        <p:spPr>
          <a:xfrm>
            <a:off x="0" y="0"/>
            <a:ext cx="75895" cy="10287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505" y="11430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Schneider Electric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38505" y="15809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89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References &amp; End Note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38505" y="2667305"/>
            <a:ext cx="57150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spc="-48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Q&amp;A</a:t>
            </a:r>
            <a:endParaRPr lang="en-US" sz="12000" dirty="0"/>
          </a:p>
        </p:txBody>
      </p:sp>
      <p:sp>
        <p:nvSpPr>
          <p:cNvPr id="9" name="Text 6"/>
          <p:cNvSpPr txBox="1"/>
          <p:nvPr/>
        </p:nvSpPr>
        <p:spPr>
          <a:xfrm>
            <a:off x="838505" y="4381805"/>
            <a:ext cx="5715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D9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 이론 × 디지털 플랫폼 × ESG가 결합할 때 비로소 지속가능한 경쟁우위가 된다.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8505" y="8762695"/>
            <a:ext cx="5715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TIM509 · Group Report · Spring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38505" y="9038844"/>
            <a:ext cx="5715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이강원 · 이현우 · 김진혁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UNIST MOT · Dr. Lee Chang-Hun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96098" y="1143000"/>
            <a:ext cx="9335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15" kern="0" dirty="0">
                <a:solidFill>
                  <a:srgbClr val="1A36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096098" y="1457554"/>
            <a:ext cx="93351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36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참고 문헌 및 출처</a:t>
            </a:r>
            <a:endParaRPr lang="en-US" sz="3100" dirty="0"/>
          </a:p>
        </p:txBody>
      </p:sp>
      <p:sp>
        <p:nvSpPr>
          <p:cNvPr id="14" name="Shape 11"/>
          <p:cNvSpPr/>
          <p:nvPr/>
        </p:nvSpPr>
        <p:spPr>
          <a:xfrm>
            <a:off x="8096098" y="3106217"/>
            <a:ext cx="9334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6098" y="2667305"/>
            <a:ext cx="9335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[1]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Gartner. </a:t>
            </a:r>
            <a:pPr algn="l" indent="0" marL="0">
              <a:buNone/>
            </a:pPr>
            <a:r>
              <a:rPr lang="en-US" sz="1000" i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Supply Chain Top 25, 2025 Annual Report.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Stamford, 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96098" y="3552444"/>
            <a:ext cx="9334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96098" y="3113532"/>
            <a:ext cx="9335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[2]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Schneider Electric SE. </a:t>
            </a:r>
            <a:pPr algn="l" indent="0" marL="0">
              <a:buNone/>
            </a:pPr>
            <a:r>
              <a:rPr lang="en-US" sz="1000" i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Universal Registration Document 2025 / Integrated Report.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Rueil-Malmaison, France.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96098" y="3999586"/>
            <a:ext cx="9334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96098" y="3560674"/>
            <a:ext cx="9335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[3]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Schneider Electric. </a:t>
            </a:r>
            <a:pPr algn="l" indent="0" marL="0">
              <a:buNone/>
            </a:pPr>
            <a:r>
              <a:rPr lang="en-US" sz="1000" i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Capital Markets Day 2024 — Operating Model &amp; Digital Supply Chain Strategy.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96098" y="4445813"/>
            <a:ext cx="9334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96098" y="4006901"/>
            <a:ext cx="9335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[4]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Tlaxcala Plant Operations Improvement Project (Schneider Electric Mexico, STP) — Continuous Flow Implementation Case Study.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96098" y="4892954"/>
            <a:ext cx="9334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6098" y="4454042"/>
            <a:ext cx="9335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[5]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Kinaxis Inc. </a:t>
            </a:r>
            <a:pPr algn="l" indent="0" marL="0">
              <a:buNone/>
            </a:pPr>
            <a:r>
              <a:rPr lang="en-US" sz="1000" i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Platform — Concurrent Planning Reference.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96098" y="5340096"/>
            <a:ext cx="9334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96098" y="4901184"/>
            <a:ext cx="9335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[6]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Kraljic, P. (1983). </a:t>
            </a:r>
            <a:pPr algn="l" indent="0" marL="0">
              <a:buNone/>
            </a:pPr>
            <a:r>
              <a:rPr lang="en-US" sz="1000" i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Purchasing Must Become Supply Management.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Harvard Business Review.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96098" y="5786323"/>
            <a:ext cx="9334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96098" y="5347411"/>
            <a:ext cx="9335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[7]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Wilson, R. H. (1934). </a:t>
            </a:r>
            <a:pPr algn="l" indent="0" marL="0">
              <a:buNone/>
            </a:pPr>
            <a:r>
              <a:rPr lang="en-US" sz="1000" i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Scientific Routine for Stock Control.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Harvard Business Review.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096098" y="6233465"/>
            <a:ext cx="9334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96098" y="5794553"/>
            <a:ext cx="9335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[8]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Shingo, S. (1985). </a:t>
            </a:r>
            <a:pPr algn="l" indent="0" marL="0">
              <a:buNone/>
            </a:pPr>
            <a:r>
              <a:rPr lang="en-US" sz="1000" i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Revolution in Manufacturing: The SMED System.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Productivity Press.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96098" y="6680606"/>
            <a:ext cx="9334195" cy="9144"/>
          </a:xfrm>
          <a:prstGeom prst="rect">
            <a:avLst/>
          </a:prstGeom>
          <a:solidFill>
            <a:srgbClr val="E6E6E2"/>
          </a:solidFill>
          <a:ln w="12700">
            <a:solidFill>
              <a:srgbClr val="E6E6E2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96098" y="6241694"/>
            <a:ext cx="9335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[9]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Simchi-Levi, D., Kaminsky, P., &amp; Simchi-Levi, E. </a:t>
            </a:r>
            <a:pPr algn="l" indent="0" marL="0">
              <a:buNone/>
            </a:pPr>
            <a:r>
              <a:rPr lang="en-US" sz="1000" i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Designing and Managing the Supply Chain.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McGraw-Hill.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096098" y="6687922"/>
            <a:ext cx="9335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[10]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Dr. Lee, Chang-Hun. </a:t>
            </a:r>
            <a:pPr algn="l" indent="0" marL="0">
              <a:buNone/>
            </a:pPr>
            <a:r>
              <a:rPr lang="en-US" sz="1000" i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TIM509 Operations &amp; Supply Chain Management Course Material, Spring 2026.</a:t>
            </a:r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UNIST.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096098" y="9715500"/>
            <a:ext cx="9334195" cy="9144"/>
          </a:xfrm>
          <a:prstGeom prst="rect">
            <a:avLst/>
          </a:prstGeom>
          <a:solidFill>
            <a:srgbClr val="D6D6D2"/>
          </a:solidFill>
          <a:ln w="12700">
            <a:solidFill>
              <a:srgbClr val="D6D6D2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96098" y="9858146"/>
            <a:ext cx="2352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 of Report · Thank You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6498519" y="9858146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DCD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2026-06-02T17:14:41Z</dcterms:created>
  <dcterms:modified xsi:type="dcterms:W3CDTF">2026-06-02T17:14:41Z</dcterms:modified>
</cp:coreProperties>
</file>